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sv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sergiogonro\Documents\dde\unisabana-presentation-system\core\brand\assets\campus-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2157">
              <a:alpha val="6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685800" y="2062163"/>
            <a:ext cx="929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VICERRECTORÍA DE PROCESOS ACADÉMICOS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85800" y="2366963"/>
            <a:ext cx="929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INFORME ANUAL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685800" y="2747963"/>
            <a:ext cx="9296400" cy="210502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La Universidad consolidó su crecimiento en investigación durante 2025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685800" y="5081588"/>
            <a:ext cx="9296400" cy="352425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Informe de resultados ante el Consejo Directivo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85800" y="6019800"/>
            <a:ext cx="9296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Rectoría · noviembre de 2025</a:t>
            </a:r>
            <a:endParaRPr lang="en-US" sz="1200" dirty="0"/>
          </a:p>
        </p:txBody>
      </p:sp>
      <p:pic>
        <p:nvPicPr>
          <p:cNvPr id="9" name="Image 1" descr="C:\Users\sergiogonro\Documents\dde\unisabana-presentation-system\core\brand\assets\logo-horizontal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33400"/>
            <a:ext cx="1765266" cy="752475"/>
          </a:xfrm>
          <a:prstGeom prst="rect">
            <a:avLst/>
          </a:prstGeom>
        </p:spPr>
      </p:pic>
      <p:pic>
        <p:nvPicPr>
          <p:cNvPr id="10" name="Image 2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sp>
        <p:nvSpPr>
          <p:cNvPr id="12" name="Text 7"/>
          <p:cNvSpPr/>
          <p:nvPr/>
        </p:nvSpPr>
        <p:spPr>
          <a:xfrm>
            <a:off x="304800" y="6400800"/>
            <a:ext cx="76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1 / 13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714500"/>
            <a:ext cx="5486400" cy="5619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825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Agenda</a:t>
            </a:r>
            <a:endParaRPr lang="en-US" sz="3825" dirty="0"/>
          </a:p>
        </p:txBody>
      </p:sp>
      <p:sp>
        <p:nvSpPr>
          <p:cNvPr id="3" name="Text 1"/>
          <p:cNvSpPr/>
          <p:nvPr/>
        </p:nvSpPr>
        <p:spPr>
          <a:xfrm>
            <a:off x="685800" y="2733675"/>
            <a:ext cx="73152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01  </a:t>
            </a:r>
            <a:pPr indent="0" marL="0">
              <a:buNone/>
            </a:pPr>
            <a:r>
              <a:rPr lang="en-US" sz="15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Contexto institucional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85800" y="3343275"/>
            <a:ext cx="73152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02  </a:t>
            </a:r>
            <a:pPr indent="0" marL="0">
              <a:buNone/>
            </a:pPr>
            <a:r>
              <a:rPr lang="en-US" sz="15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Resultados financieros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" y="3952875"/>
            <a:ext cx="73152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03  </a:t>
            </a:r>
            <a:pPr indent="0" marL="0">
              <a:buNone/>
            </a:pPr>
            <a:r>
              <a:rPr lang="en-US" sz="15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Resultados de investigación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4562475"/>
            <a:ext cx="73152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04  </a:t>
            </a:r>
            <a:pPr indent="0" marL="0">
              <a:buNone/>
            </a:pPr>
            <a:r>
              <a:rPr lang="en-US" sz="15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Comparación entre facultades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800" y="5172075"/>
            <a:ext cx="73152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05  </a:t>
            </a:r>
            <a:pPr indent="0" marL="0">
              <a:buNone/>
            </a:pPr>
            <a:r>
              <a:rPr lang="en-US" sz="15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Cierre y próximos pasos</a:t>
            </a:r>
            <a:endParaRPr lang="en-US" sz="1800" dirty="0"/>
          </a:p>
        </p:txBody>
      </p:sp>
      <p:pic>
        <p:nvPicPr>
          <p:cNvPr id="8" name="Image 0" descr="C:\Users\sergiogonro\Documents\dde\unisabana-presentation-system\core\brand\assets\logo-horizontal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33400"/>
            <a:ext cx="1765266" cy="752475"/>
          </a:xfrm>
          <a:prstGeom prst="rect">
            <a:avLst/>
          </a:prstGeom>
        </p:spPr>
      </p:pic>
      <p:pic>
        <p:nvPicPr>
          <p:cNvPr id="9" name="Image 1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304800" y="6400800"/>
            <a:ext cx="76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2 / 13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CE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866900"/>
            <a:ext cx="10820400" cy="5619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825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Agenda (variante grid)</a:t>
            </a:r>
            <a:endParaRPr lang="en-US" sz="3825" dirty="0"/>
          </a:p>
        </p:txBody>
      </p:sp>
      <p:sp>
        <p:nvSpPr>
          <p:cNvPr id="3" name="Shape 1"/>
          <p:cNvSpPr/>
          <p:nvPr/>
        </p:nvSpPr>
        <p:spPr>
          <a:xfrm>
            <a:off x="685800" y="2886075"/>
            <a:ext cx="34036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C2C3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900680" y="2831211"/>
            <a:ext cx="1188720" cy="9429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DCE5F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86968" y="3050667"/>
            <a:ext cx="3001264" cy="9281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Contexto institucional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394200" y="2886075"/>
            <a:ext cx="34036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C2C3C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09080" y="2831211"/>
            <a:ext cx="1188720" cy="9429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DCE5F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02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4595368" y="3050667"/>
            <a:ext cx="3001264" cy="9281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Resultados financieros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02600" y="2886075"/>
            <a:ext cx="34036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C2C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317480" y="2831211"/>
            <a:ext cx="1188720" cy="9429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DCE5F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03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8303768" y="3050667"/>
            <a:ext cx="3001264" cy="9281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Resultados de investigación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4371975"/>
            <a:ext cx="34036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C2C3C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00680" y="4317111"/>
            <a:ext cx="1188720" cy="9429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DCE5F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04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886968" y="4536567"/>
            <a:ext cx="3001264" cy="9281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Comparación entre facultades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394200" y="4371975"/>
            <a:ext cx="34036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C2C3C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9080" y="4317111"/>
            <a:ext cx="1188720" cy="9429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DCE5F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05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4595368" y="4536567"/>
            <a:ext cx="3001264" cy="9281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Cierre y próximos pasos</a:t>
            </a:r>
            <a:endParaRPr lang="en-US" sz="1400" dirty="0"/>
          </a:p>
        </p:txBody>
      </p:sp>
      <p:pic>
        <p:nvPicPr>
          <p:cNvPr id="18" name="Image 0" descr="C:\Users\sergiogonro\Documents\dde\unisabana-presentation-system\core\brand\assets\logo-horizontal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33400"/>
            <a:ext cx="1765266" cy="752475"/>
          </a:xfrm>
          <a:prstGeom prst="rect">
            <a:avLst/>
          </a:prstGeom>
        </p:spPr>
      </p:pic>
      <p:pic>
        <p:nvPicPr>
          <p:cNvPr id="19" name="Image 1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304800" y="6400800"/>
            <a:ext cx="76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3 / 13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17144" cy="6858000"/>
          </a:xfrm>
          <a:prstGeom prst="rect">
            <a:avLst/>
          </a:prstGeom>
          <a:solidFill>
            <a:srgbClr val="003A86"/>
          </a:solidFill>
          <a:ln/>
        </p:spPr>
      </p:sp>
      <p:sp>
        <p:nvSpPr>
          <p:cNvPr id="3" name="Shape 1"/>
          <p:cNvSpPr/>
          <p:nvPr/>
        </p:nvSpPr>
        <p:spPr>
          <a:xfrm>
            <a:off x="508000" y="0"/>
            <a:ext cx="517144" cy="6858000"/>
          </a:xfrm>
          <a:prstGeom prst="rect">
            <a:avLst/>
          </a:prstGeom>
          <a:solidFill>
            <a:srgbClr val="013984"/>
          </a:solidFill>
          <a:ln/>
        </p:spPr>
      </p:sp>
      <p:sp>
        <p:nvSpPr>
          <p:cNvPr id="4" name="Shape 2"/>
          <p:cNvSpPr/>
          <p:nvPr/>
        </p:nvSpPr>
        <p:spPr>
          <a:xfrm>
            <a:off x="1016000" y="0"/>
            <a:ext cx="517144" cy="6858000"/>
          </a:xfrm>
          <a:prstGeom prst="rect">
            <a:avLst/>
          </a:prstGeom>
          <a:solidFill>
            <a:srgbClr val="013882"/>
          </a:solidFill>
          <a:ln/>
        </p:spPr>
      </p:sp>
      <p:sp>
        <p:nvSpPr>
          <p:cNvPr id="5" name="Shape 3"/>
          <p:cNvSpPr/>
          <p:nvPr/>
        </p:nvSpPr>
        <p:spPr>
          <a:xfrm>
            <a:off x="1524000" y="0"/>
            <a:ext cx="517144" cy="6858000"/>
          </a:xfrm>
          <a:prstGeom prst="rect">
            <a:avLst/>
          </a:prstGeom>
          <a:solidFill>
            <a:srgbClr val="023780"/>
          </a:solidFill>
          <a:ln/>
        </p:spPr>
      </p:sp>
      <p:sp>
        <p:nvSpPr>
          <p:cNvPr id="6" name="Shape 4"/>
          <p:cNvSpPr/>
          <p:nvPr/>
        </p:nvSpPr>
        <p:spPr>
          <a:xfrm>
            <a:off x="2032000" y="0"/>
            <a:ext cx="517144" cy="6858000"/>
          </a:xfrm>
          <a:prstGeom prst="rect">
            <a:avLst/>
          </a:prstGeom>
          <a:solidFill>
            <a:srgbClr val="02367E"/>
          </a:solidFill>
          <a:ln/>
        </p:spPr>
      </p:sp>
      <p:sp>
        <p:nvSpPr>
          <p:cNvPr id="7" name="Shape 5"/>
          <p:cNvSpPr/>
          <p:nvPr/>
        </p:nvSpPr>
        <p:spPr>
          <a:xfrm>
            <a:off x="2540000" y="0"/>
            <a:ext cx="517144" cy="6858000"/>
          </a:xfrm>
          <a:prstGeom prst="rect">
            <a:avLst/>
          </a:prstGeom>
          <a:solidFill>
            <a:srgbClr val="03357C"/>
          </a:solidFill>
          <a:ln/>
        </p:spPr>
      </p:sp>
      <p:sp>
        <p:nvSpPr>
          <p:cNvPr id="8" name="Shape 6"/>
          <p:cNvSpPr/>
          <p:nvPr/>
        </p:nvSpPr>
        <p:spPr>
          <a:xfrm>
            <a:off x="3048000" y="0"/>
            <a:ext cx="517144" cy="6858000"/>
          </a:xfrm>
          <a:prstGeom prst="rect">
            <a:avLst/>
          </a:prstGeom>
          <a:solidFill>
            <a:srgbClr val="03337A"/>
          </a:solidFill>
          <a:ln/>
        </p:spPr>
      </p:sp>
      <p:sp>
        <p:nvSpPr>
          <p:cNvPr id="9" name="Shape 7"/>
          <p:cNvSpPr/>
          <p:nvPr/>
        </p:nvSpPr>
        <p:spPr>
          <a:xfrm>
            <a:off x="3556000" y="0"/>
            <a:ext cx="517144" cy="6858000"/>
          </a:xfrm>
          <a:prstGeom prst="rect">
            <a:avLst/>
          </a:prstGeom>
          <a:solidFill>
            <a:srgbClr val="043278"/>
          </a:solidFill>
          <a:ln/>
        </p:spPr>
      </p:sp>
      <p:sp>
        <p:nvSpPr>
          <p:cNvPr id="10" name="Shape 8"/>
          <p:cNvSpPr/>
          <p:nvPr/>
        </p:nvSpPr>
        <p:spPr>
          <a:xfrm>
            <a:off x="4064000" y="0"/>
            <a:ext cx="517144" cy="6858000"/>
          </a:xfrm>
          <a:prstGeom prst="rect">
            <a:avLst/>
          </a:prstGeom>
          <a:solidFill>
            <a:srgbClr val="053176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0" y="0"/>
            <a:ext cx="517144" cy="6858000"/>
          </a:xfrm>
          <a:prstGeom prst="rect">
            <a:avLst/>
          </a:prstGeom>
          <a:solidFill>
            <a:srgbClr val="053074"/>
          </a:solidFill>
          <a:ln/>
        </p:spPr>
      </p:sp>
      <p:sp>
        <p:nvSpPr>
          <p:cNvPr id="12" name="Shape 10"/>
          <p:cNvSpPr/>
          <p:nvPr/>
        </p:nvSpPr>
        <p:spPr>
          <a:xfrm>
            <a:off x="5080000" y="0"/>
            <a:ext cx="517144" cy="6858000"/>
          </a:xfrm>
          <a:prstGeom prst="rect">
            <a:avLst/>
          </a:prstGeom>
          <a:solidFill>
            <a:srgbClr val="062F72"/>
          </a:solidFill>
          <a:ln/>
        </p:spPr>
      </p:sp>
      <p:sp>
        <p:nvSpPr>
          <p:cNvPr id="13" name="Shape 11"/>
          <p:cNvSpPr/>
          <p:nvPr/>
        </p:nvSpPr>
        <p:spPr>
          <a:xfrm>
            <a:off x="5588000" y="0"/>
            <a:ext cx="517144" cy="6858000"/>
          </a:xfrm>
          <a:prstGeom prst="rect">
            <a:avLst/>
          </a:prstGeom>
          <a:solidFill>
            <a:srgbClr val="062E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096000" y="0"/>
            <a:ext cx="517144" cy="6858000"/>
          </a:xfrm>
          <a:prstGeom prst="rect">
            <a:avLst/>
          </a:prstGeom>
          <a:solidFill>
            <a:srgbClr val="072D6D"/>
          </a:solidFill>
          <a:ln/>
        </p:spPr>
      </p:sp>
      <p:sp>
        <p:nvSpPr>
          <p:cNvPr id="15" name="Shape 13"/>
          <p:cNvSpPr/>
          <p:nvPr/>
        </p:nvSpPr>
        <p:spPr>
          <a:xfrm>
            <a:off x="6604000" y="0"/>
            <a:ext cx="517144" cy="6858000"/>
          </a:xfrm>
          <a:prstGeom prst="rect">
            <a:avLst/>
          </a:prstGeom>
          <a:solidFill>
            <a:srgbClr val="072C6B"/>
          </a:solidFill>
          <a:ln/>
        </p:spPr>
      </p:sp>
      <p:sp>
        <p:nvSpPr>
          <p:cNvPr id="16" name="Shape 14"/>
          <p:cNvSpPr/>
          <p:nvPr/>
        </p:nvSpPr>
        <p:spPr>
          <a:xfrm>
            <a:off x="7112000" y="0"/>
            <a:ext cx="517144" cy="6858000"/>
          </a:xfrm>
          <a:prstGeom prst="rect">
            <a:avLst/>
          </a:prstGeom>
          <a:solidFill>
            <a:srgbClr val="082B69"/>
          </a:solidFill>
          <a:ln/>
        </p:spPr>
      </p:sp>
      <p:sp>
        <p:nvSpPr>
          <p:cNvPr id="17" name="Shape 15"/>
          <p:cNvSpPr/>
          <p:nvPr/>
        </p:nvSpPr>
        <p:spPr>
          <a:xfrm>
            <a:off x="7620000" y="0"/>
            <a:ext cx="517144" cy="6858000"/>
          </a:xfrm>
          <a:prstGeom prst="rect">
            <a:avLst/>
          </a:prstGeom>
          <a:solidFill>
            <a:srgbClr val="082A67"/>
          </a:solidFill>
          <a:ln/>
        </p:spPr>
      </p:sp>
      <p:sp>
        <p:nvSpPr>
          <p:cNvPr id="18" name="Shape 16"/>
          <p:cNvSpPr/>
          <p:nvPr/>
        </p:nvSpPr>
        <p:spPr>
          <a:xfrm>
            <a:off x="8128000" y="0"/>
            <a:ext cx="517144" cy="6858000"/>
          </a:xfrm>
          <a:prstGeom prst="rect">
            <a:avLst/>
          </a:prstGeom>
          <a:solidFill>
            <a:srgbClr val="092965"/>
          </a:solidFill>
          <a:ln/>
        </p:spPr>
      </p:sp>
      <p:sp>
        <p:nvSpPr>
          <p:cNvPr id="19" name="Shape 17"/>
          <p:cNvSpPr/>
          <p:nvPr/>
        </p:nvSpPr>
        <p:spPr>
          <a:xfrm>
            <a:off x="8636000" y="0"/>
            <a:ext cx="517144" cy="6858000"/>
          </a:xfrm>
          <a:prstGeom prst="rect">
            <a:avLst/>
          </a:prstGeom>
          <a:solidFill>
            <a:srgbClr val="0A2863"/>
          </a:solidFill>
          <a:ln/>
        </p:spPr>
      </p:sp>
      <p:sp>
        <p:nvSpPr>
          <p:cNvPr id="20" name="Shape 18"/>
          <p:cNvSpPr/>
          <p:nvPr/>
        </p:nvSpPr>
        <p:spPr>
          <a:xfrm>
            <a:off x="9144000" y="0"/>
            <a:ext cx="517144" cy="6858000"/>
          </a:xfrm>
          <a:prstGeom prst="rect">
            <a:avLst/>
          </a:prstGeom>
          <a:solidFill>
            <a:srgbClr val="0A2661"/>
          </a:solidFill>
          <a:ln/>
        </p:spPr>
      </p:sp>
      <p:sp>
        <p:nvSpPr>
          <p:cNvPr id="21" name="Shape 19"/>
          <p:cNvSpPr/>
          <p:nvPr/>
        </p:nvSpPr>
        <p:spPr>
          <a:xfrm>
            <a:off x="9652000" y="0"/>
            <a:ext cx="517144" cy="6858000"/>
          </a:xfrm>
          <a:prstGeom prst="rect">
            <a:avLst/>
          </a:prstGeom>
          <a:solidFill>
            <a:srgbClr val="0B255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60000" y="0"/>
            <a:ext cx="517144" cy="6858000"/>
          </a:xfrm>
          <a:prstGeom prst="rect">
            <a:avLst/>
          </a:prstGeom>
          <a:solidFill>
            <a:srgbClr val="0B245D"/>
          </a:solidFill>
          <a:ln/>
        </p:spPr>
      </p:sp>
      <p:sp>
        <p:nvSpPr>
          <p:cNvPr id="23" name="Shape 21"/>
          <p:cNvSpPr/>
          <p:nvPr/>
        </p:nvSpPr>
        <p:spPr>
          <a:xfrm>
            <a:off x="10668000" y="0"/>
            <a:ext cx="517144" cy="6858000"/>
          </a:xfrm>
          <a:prstGeom prst="rect">
            <a:avLst/>
          </a:prstGeom>
          <a:solidFill>
            <a:srgbClr val="0C235B"/>
          </a:solidFill>
          <a:ln/>
        </p:spPr>
      </p:sp>
      <p:sp>
        <p:nvSpPr>
          <p:cNvPr id="24" name="Shape 22"/>
          <p:cNvSpPr/>
          <p:nvPr/>
        </p:nvSpPr>
        <p:spPr>
          <a:xfrm>
            <a:off x="11176000" y="0"/>
            <a:ext cx="517144" cy="6858000"/>
          </a:xfrm>
          <a:prstGeom prst="rect">
            <a:avLst/>
          </a:prstGeom>
          <a:solidFill>
            <a:srgbClr val="0C2259"/>
          </a:solidFill>
          <a:ln/>
        </p:spPr>
      </p:sp>
      <p:sp>
        <p:nvSpPr>
          <p:cNvPr id="25" name="Shape 23"/>
          <p:cNvSpPr/>
          <p:nvPr/>
        </p:nvSpPr>
        <p:spPr>
          <a:xfrm>
            <a:off x="11684000" y="0"/>
            <a:ext cx="517144" cy="6858000"/>
          </a:xfrm>
          <a:prstGeom prst="rect">
            <a:avLst/>
          </a:prstGeom>
          <a:solidFill>
            <a:srgbClr val="0D2157"/>
          </a:solidFill>
          <a:ln/>
        </p:spPr>
      </p:sp>
      <p:pic>
        <p:nvPicPr>
          <p:cNvPr id="26" name="Image 0" descr="C:\Users\sergiogonro\Documents\dde\unisabana-presentation-system\core\brand\assets\brand-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685800" y="2076450"/>
            <a:ext cx="2743200" cy="1051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0" b="1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01</a:t>
            </a:r>
            <a:endParaRPr lang="en-US" sz="7200" dirty="0"/>
          </a:p>
        </p:txBody>
      </p:sp>
      <p:sp>
        <p:nvSpPr>
          <p:cNvPr id="28" name="Text 25"/>
          <p:cNvSpPr/>
          <p:nvPr/>
        </p:nvSpPr>
        <p:spPr>
          <a:xfrm>
            <a:off x="685800" y="3314700"/>
            <a:ext cx="8229600" cy="1619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555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Contexto institucional</a:t>
            </a:r>
            <a:endParaRPr lang="en-US" sz="5550" dirty="0"/>
          </a:p>
        </p:txBody>
      </p:sp>
      <p:sp>
        <p:nvSpPr>
          <p:cNvPr id="29" name="Text 26"/>
          <p:cNvSpPr/>
          <p:nvPr/>
        </p:nvSpPr>
        <p:spPr>
          <a:xfrm>
            <a:off x="685800" y="5124450"/>
            <a:ext cx="7315200" cy="295275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Panorama general 2025</a:t>
            </a:r>
            <a:endParaRPr lang="en-US" sz="1500" dirty="0"/>
          </a:p>
        </p:txBody>
      </p:sp>
      <p:pic>
        <p:nvPicPr>
          <p:cNvPr id="30" name="Image 1" descr="C:\Users\sergiogonro\Documents\dde\unisabana-presentation-system\core\brand\assets\logo-horizontal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33400"/>
            <a:ext cx="1765266" cy="752475"/>
          </a:xfrm>
          <a:prstGeom prst="rect">
            <a:avLst/>
          </a:prstGeom>
        </p:spPr>
      </p:pic>
      <p:pic>
        <p:nvPicPr>
          <p:cNvPr id="31" name="Image 2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sp>
        <p:nvSpPr>
          <p:cNvPr id="33" name="Text 28"/>
          <p:cNvSpPr/>
          <p:nvPr/>
        </p:nvSpPr>
        <p:spPr>
          <a:xfrm>
            <a:off x="304800" y="6400800"/>
            <a:ext cx="76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4 / 13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114550"/>
            <a:ext cx="9144000" cy="122872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2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La Universidad fortaleció su posición académica regional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685800" y="3571875"/>
            <a:ext cx="8229600" cy="70485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C3C3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El crecimiento se sostuvo en investigación, internacionalización y bienestar estudiantil.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85800" y="4505325"/>
            <a:ext cx="10820400" cy="800100"/>
          </a:xfrm>
          <a:prstGeom prst="rect">
            <a:avLst/>
          </a:prstGeom>
          <a:solidFill>
            <a:srgbClr val="0D2157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4633341"/>
            <a:ext cx="1027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PUNTO DE PARTIDA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60120" y="4889373"/>
            <a:ext cx="102717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Arrancamos el periodo con una brecha de 12 puntos frente a la meta institucional.</a:t>
            </a:r>
            <a:endParaRPr lang="en-US" sz="1400" dirty="0"/>
          </a:p>
        </p:txBody>
      </p:sp>
      <p:pic>
        <p:nvPicPr>
          <p:cNvPr id="7" name="Image 0" descr="C:\Users\sergiogonro\Documents\dde\unisabana-presentation-system\core\brand\assets\logo-horizontal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33400"/>
            <a:ext cx="1765266" cy="752475"/>
          </a:xfrm>
          <a:prstGeom prst="rect">
            <a:avLst/>
          </a:prstGeom>
        </p:spPr>
      </p:pic>
      <p:pic>
        <p:nvPicPr>
          <p:cNvPr id="8" name="Image 1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304800" y="6400800"/>
            <a:ext cx="76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5 / 13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906588"/>
            <a:ext cx="10820400" cy="5619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825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Los ingresos crecieron 18% en 2024</a:t>
            </a:r>
            <a:endParaRPr lang="en-US" sz="3825" dirty="0"/>
          </a:p>
        </p:txBody>
      </p:sp>
      <p:sp>
        <p:nvSpPr>
          <p:cNvPr id="3" name="Text 1"/>
          <p:cNvSpPr/>
          <p:nvPr/>
        </p:nvSpPr>
        <p:spPr>
          <a:xfrm>
            <a:off x="685800" y="3040063"/>
            <a:ext cx="3403600" cy="745067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18%</a:t>
            </a:r>
            <a:pPr indent="0" marL="0">
              <a:buNone/>
            </a:pPr>
            <a:r>
              <a:rPr lang="en-US" sz="1760" b="1" dirty="0">
                <a:solidFill>
                  <a:srgbClr val="788C31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  ▴ 2.4 pts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3830849"/>
            <a:ext cx="3403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Crecimiento de ingresos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" y="4150889"/>
            <a:ext cx="3403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Frente al año anterior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94200" y="3040063"/>
            <a:ext cx="3403600" cy="745067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1,240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4394200" y="3830849"/>
            <a:ext cx="3403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Nuevos estudiantes matriculados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102600" y="3040063"/>
            <a:ext cx="1300963" cy="274320"/>
          </a:xfrm>
          <a:prstGeom prst="roundRect">
            <a:avLst>
              <a:gd name="adj" fmla="val 50000"/>
            </a:avLst>
          </a:prstGeom>
          <a:solidFill>
            <a:srgbClr val="FAEAEA"/>
          </a:solidFill>
          <a:ln/>
        </p:spPr>
      </p:sp>
      <p:sp>
        <p:nvSpPr>
          <p:cNvPr id="9" name="Text 7"/>
          <p:cNvSpPr/>
          <p:nvPr/>
        </p:nvSpPr>
        <p:spPr>
          <a:xfrm>
            <a:off x="8102600" y="3040063"/>
            <a:ext cx="130096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30C0C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Requiere atención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8029448" y="3387535"/>
            <a:ext cx="36576" cy="745067"/>
          </a:xfrm>
          <a:prstGeom prst="rect">
            <a:avLst/>
          </a:prstGeom>
          <a:solidFill>
            <a:srgbClr val="CE2929"/>
          </a:solidFill>
          <a:ln/>
        </p:spPr>
      </p:sp>
      <p:sp>
        <p:nvSpPr>
          <p:cNvPr id="11" name="Text 9"/>
          <p:cNvSpPr/>
          <p:nvPr/>
        </p:nvSpPr>
        <p:spPr>
          <a:xfrm>
            <a:off x="8102600" y="3387535"/>
            <a:ext cx="3403600" cy="745067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-4%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8102600" y="4178321"/>
            <a:ext cx="3403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Deserción en primer semestre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85800" y="4789487"/>
            <a:ext cx="10820400" cy="800100"/>
          </a:xfrm>
          <a:prstGeom prst="rect">
            <a:avLst/>
          </a:prstGeom>
          <a:solidFill>
            <a:srgbClr val="FAF3DC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789487"/>
            <a:ext cx="54864" cy="800100"/>
          </a:xfrm>
          <a:prstGeom prst="rect">
            <a:avLst/>
          </a:prstGeom>
          <a:solidFill>
            <a:srgbClr val="91734A"/>
          </a:solidFill>
          <a:ln/>
        </p:spPr>
      </p:sp>
      <p:pic>
        <p:nvPicPr>
          <p:cNvPr id="15" name="Image 0" descr="C:\Users\sergiogonro\Documents\dde\unisabana-presentation-system\core\brand\assets\icons\triangle-alert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5043233"/>
            <a:ext cx="292608" cy="29260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463040" y="4917503"/>
            <a:ext cx="9768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1734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NOTA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463040" y="5173535"/>
            <a:ext cx="9768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Las cifras de matrícula excluyen programas de posgrado a distancia.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85800" y="5741988"/>
            <a:ext cx="10820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Fuente: Vicerrectoría Financiera · 2025</a:t>
            </a:r>
            <a:endParaRPr lang="en-US" sz="1100" dirty="0"/>
          </a:p>
        </p:txBody>
      </p:sp>
      <p:pic>
        <p:nvPicPr>
          <p:cNvPr id="19" name="Image 1" descr="C:\Users\sergiogonro\Documents\dde\unisabana-presentation-system\core\brand\assets\logo-horizontal-col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33400"/>
            <a:ext cx="1765266" cy="752475"/>
          </a:xfrm>
          <a:prstGeom prst="rect">
            <a:avLst/>
          </a:prstGeom>
        </p:spPr>
      </p:pic>
      <p:pic>
        <p:nvPicPr>
          <p:cNvPr id="20" name="Image 2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304800" y="6400800"/>
            <a:ext cx="76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6 / 13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CE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666875"/>
            <a:ext cx="10820400" cy="5619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825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Ingeniería y Medicina, en crecimiento</a:t>
            </a:r>
            <a:endParaRPr lang="en-US" sz="3825" dirty="0"/>
          </a:p>
        </p:txBody>
      </p:sp>
      <p:sp>
        <p:nvSpPr>
          <p:cNvPr id="3" name="Shape 1"/>
          <p:cNvSpPr/>
          <p:nvPr/>
        </p:nvSpPr>
        <p:spPr>
          <a:xfrm>
            <a:off x="685800" y="2686050"/>
            <a:ext cx="5257800" cy="3143250"/>
          </a:xfrm>
          <a:prstGeom prst="rect">
            <a:avLst/>
          </a:prstGeom>
          <a:solidFill>
            <a:srgbClr val="FFFFFF"/>
          </a:solidFill>
          <a:ln w="9525">
            <a:solidFill>
              <a:srgbClr val="C2C3C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2686050"/>
            <a:ext cx="54864" cy="3143250"/>
          </a:xfrm>
          <a:prstGeom prst="rect">
            <a:avLst/>
          </a:prstGeom>
          <a:solidFill>
            <a:srgbClr val="00205B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868930"/>
            <a:ext cx="319308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Facultad de Ingeniería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44645" y="2868930"/>
            <a:ext cx="1470355" cy="274320"/>
          </a:xfrm>
          <a:prstGeom prst="roundRect">
            <a:avLst>
              <a:gd name="adj" fmla="val 50000"/>
            </a:avLst>
          </a:prstGeom>
          <a:solidFill>
            <a:srgbClr val="C2C3C8"/>
          </a:solidFill>
          <a:ln/>
        </p:spPr>
      </p:sp>
      <p:sp>
        <p:nvSpPr>
          <p:cNvPr id="7" name="Text 5"/>
          <p:cNvSpPr/>
          <p:nvPr/>
        </p:nvSpPr>
        <p:spPr>
          <a:xfrm>
            <a:off x="4244645" y="2868930"/>
            <a:ext cx="14703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C3C3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Líder en crecimiento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14400" y="3371850"/>
            <a:ext cx="2263140" cy="406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32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3823970"/>
            <a:ext cx="226314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Proyectos activos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314700" y="3371850"/>
            <a:ext cx="2263140" cy="406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12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314700" y="3823970"/>
            <a:ext cx="226314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Publicaciones indexadas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314700" y="3371850"/>
            <a:ext cx="914" cy="548640"/>
          </a:xfrm>
          <a:prstGeom prst="line">
            <a:avLst/>
          </a:prstGeom>
          <a:noFill/>
          <a:ln w="9525">
            <a:solidFill>
              <a:srgbClr val="C2C3C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149090"/>
            <a:ext cx="4800600" cy="1543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C3C3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Tendencia sostenida desde 2023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48400" y="2686050"/>
            <a:ext cx="5257800" cy="3143250"/>
          </a:xfrm>
          <a:prstGeom prst="rect">
            <a:avLst/>
          </a:prstGeom>
          <a:solidFill>
            <a:srgbClr val="FFFFFF"/>
          </a:solidFill>
          <a:ln w="9525">
            <a:solidFill>
              <a:srgbClr val="C2C3C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48400" y="2686050"/>
            <a:ext cx="54864" cy="3143250"/>
          </a:xfrm>
          <a:prstGeom prst="rect">
            <a:avLst/>
          </a:prstGeom>
          <a:solidFill>
            <a:srgbClr val="CE2929"/>
          </a:solidFill>
          <a:ln/>
        </p:spPr>
      </p:sp>
      <p:sp>
        <p:nvSpPr>
          <p:cNvPr id="16" name="Text 14"/>
          <p:cNvSpPr/>
          <p:nvPr/>
        </p:nvSpPr>
        <p:spPr>
          <a:xfrm>
            <a:off x="6477000" y="2868930"/>
            <a:ext cx="28282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Facultad de Medicina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442399" y="2868930"/>
            <a:ext cx="1835201" cy="274320"/>
          </a:xfrm>
          <a:prstGeom prst="roundRect">
            <a:avLst>
              <a:gd name="adj" fmla="val 50000"/>
            </a:avLst>
          </a:prstGeom>
          <a:solidFill>
            <a:srgbClr val="FAEAEA"/>
          </a:solidFill>
          <a:ln/>
        </p:spPr>
      </p:sp>
      <p:sp>
        <p:nvSpPr>
          <p:cNvPr id="18" name="Text 16"/>
          <p:cNvSpPr/>
          <p:nvPr/>
        </p:nvSpPr>
        <p:spPr>
          <a:xfrm>
            <a:off x="9442399" y="2868930"/>
            <a:ext cx="183520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30C0C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Publicaciones bajo la meta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77000" y="3371850"/>
            <a:ext cx="2263140" cy="406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28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477000" y="3823970"/>
            <a:ext cx="226314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Proyectos activos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877300" y="3371850"/>
            <a:ext cx="2263140" cy="406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19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877300" y="3823970"/>
            <a:ext cx="226314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Publicaciones indexadas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877300" y="3371850"/>
            <a:ext cx="914" cy="548640"/>
          </a:xfrm>
          <a:prstGeom prst="line">
            <a:avLst/>
          </a:prstGeom>
          <a:noFill/>
          <a:ln w="9525">
            <a:solidFill>
              <a:srgbClr val="C2C3C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77000" y="4149090"/>
            <a:ext cx="4800600" cy="1543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C3C3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Requiere plan de refuerzo</a:t>
            </a:r>
            <a:endParaRPr lang="en-US" sz="1200" dirty="0"/>
          </a:p>
        </p:txBody>
      </p:sp>
      <p:pic>
        <p:nvPicPr>
          <p:cNvPr id="25" name="Image 0" descr="C:\Users\sergiogonro\Documents\dde\unisabana-presentation-system\core\brand\assets\logo-horizontal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33400"/>
            <a:ext cx="1765266" cy="752475"/>
          </a:xfrm>
          <a:prstGeom prst="rect">
            <a:avLst/>
          </a:prstGeom>
        </p:spPr>
      </p:pic>
      <p:pic>
        <p:nvPicPr>
          <p:cNvPr id="26" name="Image 1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304800" y="6400800"/>
            <a:ext cx="76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7 / 13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666875"/>
            <a:ext cx="10820400" cy="111442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825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El proceso de acreditación avanzó en cuatro etapas</a:t>
            </a:r>
            <a:endParaRPr lang="en-US" sz="3825" dirty="0"/>
          </a:p>
        </p:txBody>
      </p:sp>
      <p:sp>
        <p:nvSpPr>
          <p:cNvPr id="3" name="Shape 1"/>
          <p:cNvSpPr/>
          <p:nvPr/>
        </p:nvSpPr>
        <p:spPr>
          <a:xfrm>
            <a:off x="2038350" y="3610356"/>
            <a:ext cx="8115300" cy="18288"/>
          </a:xfrm>
          <a:prstGeom prst="rect">
            <a:avLst/>
          </a:prstGeom>
          <a:solidFill>
            <a:srgbClr val="C2C3C8"/>
          </a:solidFill>
          <a:ln/>
        </p:spPr>
      </p:sp>
      <p:sp>
        <p:nvSpPr>
          <p:cNvPr id="4" name="Shape 2"/>
          <p:cNvSpPr/>
          <p:nvPr/>
        </p:nvSpPr>
        <p:spPr>
          <a:xfrm>
            <a:off x="1809750" y="3390900"/>
            <a:ext cx="457200" cy="457200"/>
          </a:xfrm>
          <a:prstGeom prst="ellipse">
            <a:avLst/>
          </a:prstGeom>
          <a:solidFill>
            <a:srgbClr val="00205B"/>
          </a:solidFill>
          <a:ln/>
        </p:spPr>
      </p:sp>
      <p:sp>
        <p:nvSpPr>
          <p:cNvPr id="5" name="Text 3"/>
          <p:cNvSpPr/>
          <p:nvPr/>
        </p:nvSpPr>
        <p:spPr>
          <a:xfrm>
            <a:off x="1809750" y="33909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4000500"/>
            <a:ext cx="2590800" cy="428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Autoevaluación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Recolección de evidencia por programa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14850" y="3390900"/>
            <a:ext cx="457200" cy="457200"/>
          </a:xfrm>
          <a:prstGeom prst="ellipse">
            <a:avLst/>
          </a:prstGeom>
          <a:solidFill>
            <a:srgbClr val="00205B"/>
          </a:solidFill>
          <a:ln/>
        </p:spPr>
      </p:sp>
      <p:sp>
        <p:nvSpPr>
          <p:cNvPr id="8" name="Text 6"/>
          <p:cNvSpPr/>
          <p:nvPr/>
        </p:nvSpPr>
        <p:spPr>
          <a:xfrm>
            <a:off x="4514850" y="33909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390900" y="4000500"/>
            <a:ext cx="2590800" cy="428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Revisión por pares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219950" y="3390900"/>
            <a:ext cx="457200" cy="457200"/>
          </a:xfrm>
          <a:prstGeom prst="ellipse">
            <a:avLst/>
          </a:prstGeom>
          <a:solidFill>
            <a:srgbClr val="00205B"/>
          </a:solidFill>
          <a:ln/>
        </p:spPr>
      </p:sp>
      <p:sp>
        <p:nvSpPr>
          <p:cNvPr id="11" name="Text 9"/>
          <p:cNvSpPr/>
          <p:nvPr/>
        </p:nvSpPr>
        <p:spPr>
          <a:xfrm>
            <a:off x="7219950" y="33909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096000" y="4000500"/>
            <a:ext cx="2590800" cy="428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Informe final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925050" y="3390900"/>
            <a:ext cx="457200" cy="457200"/>
          </a:xfrm>
          <a:prstGeom prst="ellipse">
            <a:avLst/>
          </a:prstGeom>
          <a:solidFill>
            <a:srgbClr val="00205B"/>
          </a:solidFill>
          <a:ln/>
        </p:spPr>
      </p:sp>
      <p:sp>
        <p:nvSpPr>
          <p:cNvPr id="14" name="Text 12"/>
          <p:cNvSpPr/>
          <p:nvPr/>
        </p:nvSpPr>
        <p:spPr>
          <a:xfrm>
            <a:off x="9925050" y="33909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801100" y="4000500"/>
            <a:ext cx="2590800" cy="428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Visita de verificación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" y="4733925"/>
            <a:ext cx="10820400" cy="800100"/>
          </a:xfrm>
          <a:prstGeom prst="rect">
            <a:avLst/>
          </a:prstGeom>
          <a:solidFill>
            <a:srgbClr val="DCE5F3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4973955"/>
            <a:ext cx="102717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La visita de verificación concentra el 40% del esfuerzo total del proceso.</a:t>
            </a:r>
            <a:endParaRPr lang="en-US" sz="1400" dirty="0"/>
          </a:p>
        </p:txBody>
      </p:sp>
      <p:pic>
        <p:nvPicPr>
          <p:cNvPr id="18" name="Image 0" descr="C:\Users\sergiogonro\Documents\dde\unisabana-presentation-system\core\brand\assets\logo-horizontal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33400"/>
            <a:ext cx="1765266" cy="752475"/>
          </a:xfrm>
          <a:prstGeom prst="rect">
            <a:avLst/>
          </a:prstGeom>
        </p:spPr>
      </p:pic>
      <p:pic>
        <p:nvPicPr>
          <p:cNvPr id="19" name="Image 1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304800" y="6400800"/>
            <a:ext cx="76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8 / 13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809750"/>
            <a:ext cx="10820400" cy="5619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825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Fases del proceso de acreditación</a:t>
            </a:r>
            <a:endParaRPr lang="en-US" sz="3825" dirty="0"/>
          </a:p>
        </p:txBody>
      </p:sp>
      <p:sp>
        <p:nvSpPr>
          <p:cNvPr id="3" name="Shape 1"/>
          <p:cNvSpPr/>
          <p:nvPr/>
        </p:nvSpPr>
        <p:spPr>
          <a:xfrm>
            <a:off x="2038350" y="4286631"/>
            <a:ext cx="8115300" cy="18288"/>
          </a:xfrm>
          <a:prstGeom prst="rect">
            <a:avLst/>
          </a:prstGeom>
          <a:solidFill>
            <a:srgbClr val="C2C3C8"/>
          </a:solidFill>
          <a:ln/>
        </p:spPr>
      </p:sp>
      <p:sp>
        <p:nvSpPr>
          <p:cNvPr id="4" name="Shape 2"/>
          <p:cNvSpPr/>
          <p:nvPr/>
        </p:nvSpPr>
        <p:spPr>
          <a:xfrm>
            <a:off x="1992630" y="4250055"/>
            <a:ext cx="91440" cy="91440"/>
          </a:xfrm>
          <a:prstGeom prst="ellipse">
            <a:avLst/>
          </a:prstGeom>
          <a:solidFill>
            <a:srgbClr val="0020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0100" y="2905125"/>
            <a:ext cx="2476500" cy="1123950"/>
          </a:xfrm>
          <a:prstGeom prst="rect">
            <a:avLst/>
          </a:prstGeom>
          <a:solidFill>
            <a:srgbClr val="FFFFFF"/>
          </a:solidFill>
          <a:ln w="9525">
            <a:solidFill>
              <a:srgbClr val="C2C3C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450" y="3038475"/>
            <a:ext cx="381000" cy="381000"/>
          </a:xfrm>
          <a:prstGeom prst="roundRect">
            <a:avLst>
              <a:gd name="adj" fmla="val 14400"/>
            </a:avLst>
          </a:prstGeom>
          <a:solidFill>
            <a:srgbClr val="00205B"/>
          </a:solidFill>
          <a:ln/>
        </p:spPr>
      </p:sp>
      <p:pic>
        <p:nvPicPr>
          <p:cNvPr id="7" name="Image 0" descr="C:\Users\sergiogonro\Documents\dde\unisabana-presentation-system\core\brand\assets\icons\file-text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5360" y="3080385"/>
            <a:ext cx="297180" cy="2971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33450" y="3474339"/>
            <a:ext cx="2209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D2157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HITO 1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933450" y="3675507"/>
            <a:ext cx="2209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Autoevaluación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7730" y="4250055"/>
            <a:ext cx="91440" cy="91440"/>
          </a:xfrm>
          <a:prstGeom prst="ellipse">
            <a:avLst/>
          </a:prstGeom>
          <a:solidFill>
            <a:srgbClr val="0020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505200" y="4562475"/>
            <a:ext cx="2476500" cy="1123950"/>
          </a:xfrm>
          <a:prstGeom prst="rect">
            <a:avLst/>
          </a:prstGeom>
          <a:solidFill>
            <a:srgbClr val="FFFFFF"/>
          </a:solidFill>
          <a:ln w="9525">
            <a:solidFill>
              <a:srgbClr val="C2C3C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638550" y="4695825"/>
            <a:ext cx="381000" cy="381000"/>
          </a:xfrm>
          <a:prstGeom prst="roundRect">
            <a:avLst>
              <a:gd name="adj" fmla="val 14400"/>
            </a:avLst>
          </a:prstGeom>
          <a:solidFill>
            <a:srgbClr val="00205B"/>
          </a:solidFill>
          <a:ln/>
        </p:spPr>
      </p:sp>
      <p:pic>
        <p:nvPicPr>
          <p:cNvPr id="13" name="Image 1" descr="C:\Users\sergiogonro\Documents\dde\unisabana-presentation-system\core\brand\assets\icons\users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460" y="4737735"/>
            <a:ext cx="297180" cy="2971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638550" y="5131689"/>
            <a:ext cx="2209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D2157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HITO 2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3638550" y="5332857"/>
            <a:ext cx="2209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Revisión por pares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4240530" y="3984879"/>
            <a:ext cx="1005840" cy="201168"/>
          </a:xfrm>
          <a:prstGeom prst="roundRect">
            <a:avLst>
              <a:gd name="adj" fmla="val 50000"/>
            </a:avLst>
          </a:prstGeom>
          <a:solidFill>
            <a:srgbClr val="91734A"/>
          </a:solidFill>
          <a:ln/>
        </p:spPr>
      </p:sp>
      <p:sp>
        <p:nvSpPr>
          <p:cNvPr id="17" name="Text 13"/>
          <p:cNvSpPr/>
          <p:nvPr/>
        </p:nvSpPr>
        <p:spPr>
          <a:xfrm>
            <a:off x="4240530" y="3984879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Estamos aquí</a:t>
            </a:r>
            <a:endParaRPr lang="en-US" sz="800" dirty="0"/>
          </a:p>
        </p:txBody>
      </p:sp>
      <p:sp>
        <p:nvSpPr>
          <p:cNvPr id="18" name="Shape 14"/>
          <p:cNvSpPr/>
          <p:nvPr/>
        </p:nvSpPr>
        <p:spPr>
          <a:xfrm>
            <a:off x="4679442" y="4231767"/>
            <a:ext cx="128016" cy="128016"/>
          </a:xfrm>
          <a:prstGeom prst="ellipse">
            <a:avLst/>
          </a:prstGeom>
          <a:solidFill>
            <a:srgbClr val="91734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402830" y="4250055"/>
            <a:ext cx="91440" cy="91440"/>
          </a:xfrm>
          <a:prstGeom prst="ellipse">
            <a:avLst/>
          </a:prstGeom>
          <a:solidFill>
            <a:srgbClr val="0020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210300" y="2905125"/>
            <a:ext cx="2476500" cy="1123950"/>
          </a:xfrm>
          <a:prstGeom prst="rect">
            <a:avLst/>
          </a:prstGeom>
          <a:solidFill>
            <a:srgbClr val="FFFFFF"/>
          </a:solidFill>
          <a:ln w="9525">
            <a:solidFill>
              <a:srgbClr val="C2C3C8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343650" y="3038475"/>
            <a:ext cx="381000" cy="381000"/>
          </a:xfrm>
          <a:prstGeom prst="roundRect">
            <a:avLst>
              <a:gd name="adj" fmla="val 14400"/>
            </a:avLst>
          </a:prstGeom>
          <a:solidFill>
            <a:srgbClr val="00205B"/>
          </a:solidFill>
          <a:ln/>
        </p:spPr>
      </p:sp>
      <p:pic>
        <p:nvPicPr>
          <p:cNvPr id="22" name="Image 2" descr="C:\Users\sergiogonro\Documents\dde\unisabana-presentation-system\core\brand\assets\icons\check-l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5560" y="3080385"/>
            <a:ext cx="297180" cy="29718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343650" y="3474339"/>
            <a:ext cx="2209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D2157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HITO 3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6343650" y="3675507"/>
            <a:ext cx="2209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Informe final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10107930" y="4250055"/>
            <a:ext cx="91440" cy="91440"/>
          </a:xfrm>
          <a:prstGeom prst="ellipse">
            <a:avLst/>
          </a:prstGeom>
          <a:solidFill>
            <a:srgbClr val="0020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8915400" y="4562475"/>
            <a:ext cx="2476500" cy="1123950"/>
          </a:xfrm>
          <a:prstGeom prst="rect">
            <a:avLst/>
          </a:prstGeom>
          <a:solidFill>
            <a:srgbClr val="FFFFFF"/>
          </a:solidFill>
          <a:ln w="9525">
            <a:solidFill>
              <a:srgbClr val="C2C3C8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9048750" y="4695825"/>
            <a:ext cx="381000" cy="381000"/>
          </a:xfrm>
          <a:prstGeom prst="roundRect">
            <a:avLst>
              <a:gd name="adj" fmla="val 14400"/>
            </a:avLst>
          </a:prstGeom>
          <a:solidFill>
            <a:srgbClr val="00205B"/>
          </a:solidFill>
          <a:ln/>
        </p:spPr>
      </p:sp>
      <p:pic>
        <p:nvPicPr>
          <p:cNvPr id="28" name="Image 3" descr="C:\Users\sergiogonro\Documents\dde\unisabana-presentation-system\core\brand\assets\icons\calendar-ligh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0660" y="4737735"/>
            <a:ext cx="297180" cy="29718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9048750" y="5131689"/>
            <a:ext cx="2209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D2157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HITO 4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9048750" y="5332857"/>
            <a:ext cx="2209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Visita de verificación</a:t>
            </a:r>
            <a:endParaRPr lang="en-US" sz="1300" dirty="0"/>
          </a:p>
        </p:txBody>
      </p:sp>
      <p:pic>
        <p:nvPicPr>
          <p:cNvPr id="31" name="Image 4" descr="C:\Users\sergiogonro\Documents\dde\unisabana-presentation-system\core\brand\assets\logo-horizontal-colo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33400"/>
            <a:ext cx="1765266" cy="752475"/>
          </a:xfrm>
          <a:prstGeom prst="rect">
            <a:avLst/>
          </a:prstGeom>
        </p:spPr>
      </p:pic>
      <p:pic>
        <p:nvPicPr>
          <p:cNvPr id="32" name="Image 5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sp>
        <p:nvSpPr>
          <p:cNvPr id="34" name="Text 26"/>
          <p:cNvSpPr/>
          <p:nvPr/>
        </p:nvSpPr>
        <p:spPr>
          <a:xfrm>
            <a:off x="304800" y="6400800"/>
            <a:ext cx="76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9 / 13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847850"/>
            <a:ext cx="10820400" cy="5619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825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Cronograma de acreditación</a:t>
            </a:r>
            <a:endParaRPr lang="en-US" sz="3825" dirty="0"/>
          </a:p>
        </p:txBody>
      </p:sp>
      <p:sp>
        <p:nvSpPr>
          <p:cNvPr id="3" name="Text 1"/>
          <p:cNvSpPr/>
          <p:nvPr/>
        </p:nvSpPr>
        <p:spPr>
          <a:xfrm>
            <a:off x="685800" y="3171825"/>
            <a:ext cx="1657350" cy="4381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Autoevaluación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905125" y="3276600"/>
            <a:ext cx="2478454" cy="228600"/>
          </a:xfrm>
          <a:prstGeom prst="rect">
            <a:avLst/>
          </a:prstGeom>
          <a:solidFill>
            <a:srgbClr val="00205B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3609975"/>
            <a:ext cx="1657350" cy="4381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Revisión por pares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383579" y="3714750"/>
            <a:ext cx="2562469" cy="228600"/>
          </a:xfrm>
          <a:prstGeom prst="rect">
            <a:avLst/>
          </a:prstGeom>
          <a:solidFill>
            <a:srgbClr val="00205B">
              <a:alpha val="68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4048125"/>
            <a:ext cx="1657350" cy="4381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Informe final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946048" y="4152900"/>
            <a:ext cx="1302238" cy="228600"/>
          </a:xfrm>
          <a:prstGeom prst="rect">
            <a:avLst/>
          </a:prstGeom>
          <a:solidFill>
            <a:srgbClr val="00205B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4486275"/>
            <a:ext cx="1657350" cy="4381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Visita de verificación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836394" y="4591050"/>
            <a:ext cx="1260231" cy="228600"/>
          </a:xfrm>
          <a:prstGeom prst="rect">
            <a:avLst/>
          </a:prstGeom>
          <a:solidFill>
            <a:srgbClr val="00205B">
              <a:alpha val="6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495550" y="4924425"/>
            <a:ext cx="9010650" cy="18288"/>
          </a:xfrm>
          <a:prstGeom prst="rect">
            <a:avLst/>
          </a:prstGeom>
          <a:solidFill>
            <a:srgbClr val="C2C3C8"/>
          </a:solidFill>
          <a:ln/>
        </p:spPr>
      </p:sp>
      <p:sp>
        <p:nvSpPr>
          <p:cNvPr id="12" name="Shape 10"/>
          <p:cNvSpPr/>
          <p:nvPr/>
        </p:nvSpPr>
        <p:spPr>
          <a:xfrm>
            <a:off x="2486406" y="4924425"/>
            <a:ext cx="18288" cy="76200"/>
          </a:xfrm>
          <a:prstGeom prst="rect">
            <a:avLst/>
          </a:prstGeom>
          <a:solidFill>
            <a:srgbClr val="C2C3C8"/>
          </a:solidFill>
          <a:ln/>
        </p:spPr>
      </p:sp>
      <p:sp>
        <p:nvSpPr>
          <p:cNvPr id="13" name="Text 11"/>
          <p:cNvSpPr/>
          <p:nvPr/>
        </p:nvSpPr>
        <p:spPr>
          <a:xfrm>
            <a:off x="2114550" y="5038725"/>
            <a:ext cx="76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dic 2025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39069" y="4924425"/>
            <a:ext cx="18288" cy="76200"/>
          </a:xfrm>
          <a:prstGeom prst="rect">
            <a:avLst/>
          </a:prstGeom>
          <a:solidFill>
            <a:srgbClr val="C2C3C8"/>
          </a:solidFill>
          <a:ln/>
        </p:spPr>
      </p:sp>
      <p:sp>
        <p:nvSpPr>
          <p:cNvPr id="15" name="Text 13"/>
          <p:cNvSpPr/>
          <p:nvPr/>
        </p:nvSpPr>
        <p:spPr>
          <a:xfrm>
            <a:off x="4367212" y="5038725"/>
            <a:ext cx="76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feb 2026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991731" y="4924425"/>
            <a:ext cx="18288" cy="76200"/>
          </a:xfrm>
          <a:prstGeom prst="rect">
            <a:avLst/>
          </a:prstGeom>
          <a:solidFill>
            <a:srgbClr val="C2C3C8"/>
          </a:solidFill>
          <a:ln/>
        </p:spPr>
      </p:sp>
      <p:sp>
        <p:nvSpPr>
          <p:cNvPr id="17" name="Text 15"/>
          <p:cNvSpPr/>
          <p:nvPr/>
        </p:nvSpPr>
        <p:spPr>
          <a:xfrm>
            <a:off x="6619875" y="5038725"/>
            <a:ext cx="76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abr 2026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244394" y="4924425"/>
            <a:ext cx="18288" cy="76200"/>
          </a:xfrm>
          <a:prstGeom prst="rect">
            <a:avLst/>
          </a:prstGeom>
          <a:solidFill>
            <a:srgbClr val="C2C3C8"/>
          </a:solidFill>
          <a:ln/>
        </p:spPr>
      </p:sp>
      <p:sp>
        <p:nvSpPr>
          <p:cNvPr id="19" name="Text 17"/>
          <p:cNvSpPr/>
          <p:nvPr/>
        </p:nvSpPr>
        <p:spPr>
          <a:xfrm>
            <a:off x="8872538" y="5038725"/>
            <a:ext cx="76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jun 2026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1497056" y="4924425"/>
            <a:ext cx="18288" cy="76200"/>
          </a:xfrm>
          <a:prstGeom prst="rect">
            <a:avLst/>
          </a:prstGeom>
          <a:solidFill>
            <a:srgbClr val="C2C3C8"/>
          </a:solidFill>
          <a:ln/>
        </p:spPr>
      </p:sp>
      <p:sp>
        <p:nvSpPr>
          <p:cNvPr id="21" name="Text 19"/>
          <p:cNvSpPr/>
          <p:nvPr/>
        </p:nvSpPr>
        <p:spPr>
          <a:xfrm>
            <a:off x="11125200" y="5038725"/>
            <a:ext cx="76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jul 2026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685817" y="3171825"/>
            <a:ext cx="914" cy="1752600"/>
          </a:xfrm>
          <a:prstGeom prst="line">
            <a:avLst/>
          </a:prstGeom>
          <a:noFill/>
          <a:ln w="15875">
            <a:solidFill>
              <a:srgbClr val="91734A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6621809" y="3107817"/>
            <a:ext cx="128016" cy="128016"/>
          </a:xfrm>
          <a:prstGeom prst="ellipse">
            <a:avLst/>
          </a:prstGeom>
          <a:solidFill>
            <a:srgbClr val="91734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05757" y="2790825"/>
            <a:ext cx="960120" cy="182880"/>
          </a:xfrm>
          <a:prstGeom prst="roundRect">
            <a:avLst>
              <a:gd name="adj" fmla="val 50000"/>
            </a:avLst>
          </a:prstGeom>
          <a:solidFill>
            <a:srgbClr val="91734A"/>
          </a:solidFill>
          <a:ln/>
        </p:spPr>
      </p:sp>
      <p:sp>
        <p:nvSpPr>
          <p:cNvPr id="25" name="Text 23"/>
          <p:cNvSpPr/>
          <p:nvPr/>
        </p:nvSpPr>
        <p:spPr>
          <a:xfrm>
            <a:off x="6205757" y="2790825"/>
            <a:ext cx="960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Estamos aquí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027436" y="5229225"/>
            <a:ext cx="91440" cy="91440"/>
          </a:xfrm>
          <a:prstGeom prst="ellipse">
            <a:avLst/>
          </a:prstGeom>
          <a:solidFill>
            <a:srgbClr val="0D2157"/>
          </a:solidFill>
          <a:ln/>
        </p:spPr>
      </p:sp>
      <p:sp>
        <p:nvSpPr>
          <p:cNvPr id="27" name="Text 25"/>
          <p:cNvSpPr/>
          <p:nvPr/>
        </p:nvSpPr>
        <p:spPr>
          <a:xfrm>
            <a:off x="2501656" y="5362575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Kickoff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ene 2026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228205" y="5229225"/>
            <a:ext cx="91440" cy="91440"/>
          </a:xfrm>
          <a:prstGeom prst="ellipse">
            <a:avLst/>
          </a:prstGeom>
          <a:solidFill>
            <a:srgbClr val="0D2157"/>
          </a:solidFill>
          <a:ln/>
        </p:spPr>
      </p:sp>
      <p:sp>
        <p:nvSpPr>
          <p:cNvPr id="29" name="Text 27"/>
          <p:cNvSpPr/>
          <p:nvPr/>
        </p:nvSpPr>
        <p:spPr>
          <a:xfrm>
            <a:off x="6702425" y="5362575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Entrega parcial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abr 2026</a:t>
            </a:r>
            <a:endParaRPr lang="en-US" sz="900" dirty="0"/>
          </a:p>
        </p:txBody>
      </p:sp>
      <p:pic>
        <p:nvPicPr>
          <p:cNvPr id="30" name="Image 0" descr="C:\Users\sergiogonro\Documents\dde\unisabana-presentation-system\core\brand\assets\logo-horizontal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33400"/>
            <a:ext cx="1765266" cy="752475"/>
          </a:xfrm>
          <a:prstGeom prst="rect">
            <a:avLst/>
          </a:prstGeom>
        </p:spPr>
      </p:pic>
      <p:pic>
        <p:nvPicPr>
          <p:cNvPr id="31" name="Image 1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304800" y="6400800"/>
            <a:ext cx="76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10 / 13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181225"/>
            <a:ext cx="10820400" cy="5619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825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Indicadores por facultad</a:t>
            </a:r>
            <a:endParaRPr lang="en-US" sz="3825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3124200"/>
          <a:ext cx="10820400" cy="914400"/>
        </p:xfrm>
        <a:graphic>
          <a:graphicData uri="http://schemas.openxmlformats.org/drawingml/2006/table">
            <a:tbl>
              <a:tblPr/>
              <a:tblGrid>
                <a:gridCol w="2705100"/>
                <a:gridCol w="2705100"/>
                <a:gridCol w="2705100"/>
                <a:gridCol w="27051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Facultad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Estudiantes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Proyectos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Publicaciones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5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Ingeniería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1,850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32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12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Medicina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1,420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28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19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Educación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980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14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7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Estudios Jurídicos, Políticos e Internacionales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740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9 (incluye 2 interfacultad)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5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4" name="Image 0" descr="C:\Users\sergiogonro\Documents\dde\unisabana-presentation-system\core\brand\assets\logo-horizontal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33400"/>
            <a:ext cx="1765266" cy="752475"/>
          </a:xfrm>
          <a:prstGeom prst="rect">
            <a:avLst/>
          </a:prstGeom>
        </p:spPr>
      </p:pic>
      <p:pic>
        <p:nvPicPr>
          <p:cNvPr id="5" name="Image 1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sp>
        <p:nvSpPr>
          <p:cNvPr id="7" name="Text 2"/>
          <p:cNvSpPr/>
          <p:nvPr/>
        </p:nvSpPr>
        <p:spPr>
          <a:xfrm>
            <a:off x="304800" y="6400800"/>
            <a:ext cx="76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11 / 13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17144" cy="6858000"/>
          </a:xfrm>
          <a:prstGeom prst="rect">
            <a:avLst/>
          </a:prstGeom>
          <a:solidFill>
            <a:srgbClr val="003A86"/>
          </a:solidFill>
          <a:ln/>
        </p:spPr>
      </p:sp>
      <p:sp>
        <p:nvSpPr>
          <p:cNvPr id="3" name="Shape 1"/>
          <p:cNvSpPr/>
          <p:nvPr/>
        </p:nvSpPr>
        <p:spPr>
          <a:xfrm>
            <a:off x="508000" y="0"/>
            <a:ext cx="517144" cy="6858000"/>
          </a:xfrm>
          <a:prstGeom prst="rect">
            <a:avLst/>
          </a:prstGeom>
          <a:solidFill>
            <a:srgbClr val="013984"/>
          </a:solidFill>
          <a:ln/>
        </p:spPr>
      </p:sp>
      <p:sp>
        <p:nvSpPr>
          <p:cNvPr id="4" name="Shape 2"/>
          <p:cNvSpPr/>
          <p:nvPr/>
        </p:nvSpPr>
        <p:spPr>
          <a:xfrm>
            <a:off x="1016000" y="0"/>
            <a:ext cx="517144" cy="6858000"/>
          </a:xfrm>
          <a:prstGeom prst="rect">
            <a:avLst/>
          </a:prstGeom>
          <a:solidFill>
            <a:srgbClr val="013882"/>
          </a:solidFill>
          <a:ln/>
        </p:spPr>
      </p:sp>
      <p:sp>
        <p:nvSpPr>
          <p:cNvPr id="5" name="Shape 3"/>
          <p:cNvSpPr/>
          <p:nvPr/>
        </p:nvSpPr>
        <p:spPr>
          <a:xfrm>
            <a:off x="1524000" y="0"/>
            <a:ext cx="517144" cy="6858000"/>
          </a:xfrm>
          <a:prstGeom prst="rect">
            <a:avLst/>
          </a:prstGeom>
          <a:solidFill>
            <a:srgbClr val="023780"/>
          </a:solidFill>
          <a:ln/>
        </p:spPr>
      </p:sp>
      <p:sp>
        <p:nvSpPr>
          <p:cNvPr id="6" name="Shape 4"/>
          <p:cNvSpPr/>
          <p:nvPr/>
        </p:nvSpPr>
        <p:spPr>
          <a:xfrm>
            <a:off x="2032000" y="0"/>
            <a:ext cx="517144" cy="6858000"/>
          </a:xfrm>
          <a:prstGeom prst="rect">
            <a:avLst/>
          </a:prstGeom>
          <a:solidFill>
            <a:srgbClr val="02367E"/>
          </a:solidFill>
          <a:ln/>
        </p:spPr>
      </p:sp>
      <p:sp>
        <p:nvSpPr>
          <p:cNvPr id="7" name="Shape 5"/>
          <p:cNvSpPr/>
          <p:nvPr/>
        </p:nvSpPr>
        <p:spPr>
          <a:xfrm>
            <a:off x="2540000" y="0"/>
            <a:ext cx="517144" cy="6858000"/>
          </a:xfrm>
          <a:prstGeom prst="rect">
            <a:avLst/>
          </a:prstGeom>
          <a:solidFill>
            <a:srgbClr val="03357C"/>
          </a:solidFill>
          <a:ln/>
        </p:spPr>
      </p:sp>
      <p:sp>
        <p:nvSpPr>
          <p:cNvPr id="8" name="Shape 6"/>
          <p:cNvSpPr/>
          <p:nvPr/>
        </p:nvSpPr>
        <p:spPr>
          <a:xfrm>
            <a:off x="3048000" y="0"/>
            <a:ext cx="517144" cy="6858000"/>
          </a:xfrm>
          <a:prstGeom prst="rect">
            <a:avLst/>
          </a:prstGeom>
          <a:solidFill>
            <a:srgbClr val="03337A"/>
          </a:solidFill>
          <a:ln/>
        </p:spPr>
      </p:sp>
      <p:sp>
        <p:nvSpPr>
          <p:cNvPr id="9" name="Shape 7"/>
          <p:cNvSpPr/>
          <p:nvPr/>
        </p:nvSpPr>
        <p:spPr>
          <a:xfrm>
            <a:off x="3556000" y="0"/>
            <a:ext cx="517144" cy="6858000"/>
          </a:xfrm>
          <a:prstGeom prst="rect">
            <a:avLst/>
          </a:prstGeom>
          <a:solidFill>
            <a:srgbClr val="043278"/>
          </a:solidFill>
          <a:ln/>
        </p:spPr>
      </p:sp>
      <p:sp>
        <p:nvSpPr>
          <p:cNvPr id="10" name="Shape 8"/>
          <p:cNvSpPr/>
          <p:nvPr/>
        </p:nvSpPr>
        <p:spPr>
          <a:xfrm>
            <a:off x="4064000" y="0"/>
            <a:ext cx="517144" cy="6858000"/>
          </a:xfrm>
          <a:prstGeom prst="rect">
            <a:avLst/>
          </a:prstGeom>
          <a:solidFill>
            <a:srgbClr val="053176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0" y="0"/>
            <a:ext cx="517144" cy="6858000"/>
          </a:xfrm>
          <a:prstGeom prst="rect">
            <a:avLst/>
          </a:prstGeom>
          <a:solidFill>
            <a:srgbClr val="053074"/>
          </a:solidFill>
          <a:ln/>
        </p:spPr>
      </p:sp>
      <p:sp>
        <p:nvSpPr>
          <p:cNvPr id="12" name="Shape 10"/>
          <p:cNvSpPr/>
          <p:nvPr/>
        </p:nvSpPr>
        <p:spPr>
          <a:xfrm>
            <a:off x="5080000" y="0"/>
            <a:ext cx="517144" cy="6858000"/>
          </a:xfrm>
          <a:prstGeom prst="rect">
            <a:avLst/>
          </a:prstGeom>
          <a:solidFill>
            <a:srgbClr val="062F72"/>
          </a:solidFill>
          <a:ln/>
        </p:spPr>
      </p:sp>
      <p:sp>
        <p:nvSpPr>
          <p:cNvPr id="13" name="Shape 11"/>
          <p:cNvSpPr/>
          <p:nvPr/>
        </p:nvSpPr>
        <p:spPr>
          <a:xfrm>
            <a:off x="5588000" y="0"/>
            <a:ext cx="517144" cy="6858000"/>
          </a:xfrm>
          <a:prstGeom prst="rect">
            <a:avLst/>
          </a:prstGeom>
          <a:solidFill>
            <a:srgbClr val="062E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096000" y="0"/>
            <a:ext cx="517144" cy="6858000"/>
          </a:xfrm>
          <a:prstGeom prst="rect">
            <a:avLst/>
          </a:prstGeom>
          <a:solidFill>
            <a:srgbClr val="072D6D"/>
          </a:solidFill>
          <a:ln/>
        </p:spPr>
      </p:sp>
      <p:sp>
        <p:nvSpPr>
          <p:cNvPr id="15" name="Shape 13"/>
          <p:cNvSpPr/>
          <p:nvPr/>
        </p:nvSpPr>
        <p:spPr>
          <a:xfrm>
            <a:off x="6604000" y="0"/>
            <a:ext cx="517144" cy="6858000"/>
          </a:xfrm>
          <a:prstGeom prst="rect">
            <a:avLst/>
          </a:prstGeom>
          <a:solidFill>
            <a:srgbClr val="072C6B"/>
          </a:solidFill>
          <a:ln/>
        </p:spPr>
      </p:sp>
      <p:sp>
        <p:nvSpPr>
          <p:cNvPr id="16" name="Shape 14"/>
          <p:cNvSpPr/>
          <p:nvPr/>
        </p:nvSpPr>
        <p:spPr>
          <a:xfrm>
            <a:off x="7112000" y="0"/>
            <a:ext cx="517144" cy="6858000"/>
          </a:xfrm>
          <a:prstGeom prst="rect">
            <a:avLst/>
          </a:prstGeom>
          <a:solidFill>
            <a:srgbClr val="082B69"/>
          </a:solidFill>
          <a:ln/>
        </p:spPr>
      </p:sp>
      <p:sp>
        <p:nvSpPr>
          <p:cNvPr id="17" name="Shape 15"/>
          <p:cNvSpPr/>
          <p:nvPr/>
        </p:nvSpPr>
        <p:spPr>
          <a:xfrm>
            <a:off x="7620000" y="0"/>
            <a:ext cx="517144" cy="6858000"/>
          </a:xfrm>
          <a:prstGeom prst="rect">
            <a:avLst/>
          </a:prstGeom>
          <a:solidFill>
            <a:srgbClr val="082A67"/>
          </a:solidFill>
          <a:ln/>
        </p:spPr>
      </p:sp>
      <p:sp>
        <p:nvSpPr>
          <p:cNvPr id="18" name="Shape 16"/>
          <p:cNvSpPr/>
          <p:nvPr/>
        </p:nvSpPr>
        <p:spPr>
          <a:xfrm>
            <a:off x="8128000" y="0"/>
            <a:ext cx="517144" cy="6858000"/>
          </a:xfrm>
          <a:prstGeom prst="rect">
            <a:avLst/>
          </a:prstGeom>
          <a:solidFill>
            <a:srgbClr val="092965"/>
          </a:solidFill>
          <a:ln/>
        </p:spPr>
      </p:sp>
      <p:sp>
        <p:nvSpPr>
          <p:cNvPr id="19" name="Shape 17"/>
          <p:cNvSpPr/>
          <p:nvPr/>
        </p:nvSpPr>
        <p:spPr>
          <a:xfrm>
            <a:off x="8636000" y="0"/>
            <a:ext cx="517144" cy="6858000"/>
          </a:xfrm>
          <a:prstGeom prst="rect">
            <a:avLst/>
          </a:prstGeom>
          <a:solidFill>
            <a:srgbClr val="0A2863"/>
          </a:solidFill>
          <a:ln/>
        </p:spPr>
      </p:sp>
      <p:sp>
        <p:nvSpPr>
          <p:cNvPr id="20" name="Shape 18"/>
          <p:cNvSpPr/>
          <p:nvPr/>
        </p:nvSpPr>
        <p:spPr>
          <a:xfrm>
            <a:off x="9144000" y="0"/>
            <a:ext cx="517144" cy="6858000"/>
          </a:xfrm>
          <a:prstGeom prst="rect">
            <a:avLst/>
          </a:prstGeom>
          <a:solidFill>
            <a:srgbClr val="0A2661"/>
          </a:solidFill>
          <a:ln/>
        </p:spPr>
      </p:sp>
      <p:sp>
        <p:nvSpPr>
          <p:cNvPr id="21" name="Shape 19"/>
          <p:cNvSpPr/>
          <p:nvPr/>
        </p:nvSpPr>
        <p:spPr>
          <a:xfrm>
            <a:off x="9652000" y="0"/>
            <a:ext cx="517144" cy="6858000"/>
          </a:xfrm>
          <a:prstGeom prst="rect">
            <a:avLst/>
          </a:prstGeom>
          <a:solidFill>
            <a:srgbClr val="0B255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60000" y="0"/>
            <a:ext cx="517144" cy="6858000"/>
          </a:xfrm>
          <a:prstGeom prst="rect">
            <a:avLst/>
          </a:prstGeom>
          <a:solidFill>
            <a:srgbClr val="0B245D"/>
          </a:solidFill>
          <a:ln/>
        </p:spPr>
      </p:sp>
      <p:sp>
        <p:nvSpPr>
          <p:cNvPr id="23" name="Shape 21"/>
          <p:cNvSpPr/>
          <p:nvPr/>
        </p:nvSpPr>
        <p:spPr>
          <a:xfrm>
            <a:off x="10668000" y="0"/>
            <a:ext cx="517144" cy="6858000"/>
          </a:xfrm>
          <a:prstGeom prst="rect">
            <a:avLst/>
          </a:prstGeom>
          <a:solidFill>
            <a:srgbClr val="0C235B"/>
          </a:solidFill>
          <a:ln/>
        </p:spPr>
      </p:sp>
      <p:sp>
        <p:nvSpPr>
          <p:cNvPr id="24" name="Shape 22"/>
          <p:cNvSpPr/>
          <p:nvPr/>
        </p:nvSpPr>
        <p:spPr>
          <a:xfrm>
            <a:off x="11176000" y="0"/>
            <a:ext cx="517144" cy="6858000"/>
          </a:xfrm>
          <a:prstGeom prst="rect">
            <a:avLst/>
          </a:prstGeom>
          <a:solidFill>
            <a:srgbClr val="0C2259"/>
          </a:solidFill>
          <a:ln/>
        </p:spPr>
      </p:sp>
      <p:sp>
        <p:nvSpPr>
          <p:cNvPr id="25" name="Shape 23"/>
          <p:cNvSpPr/>
          <p:nvPr/>
        </p:nvSpPr>
        <p:spPr>
          <a:xfrm>
            <a:off x="11684000" y="0"/>
            <a:ext cx="517144" cy="6858000"/>
          </a:xfrm>
          <a:prstGeom prst="rect">
            <a:avLst/>
          </a:prstGeom>
          <a:solidFill>
            <a:srgbClr val="0D2157"/>
          </a:solidFill>
          <a:ln/>
        </p:spPr>
      </p:sp>
      <p:pic>
        <p:nvPicPr>
          <p:cNvPr id="26" name="Image 0" descr="C:\Users\sergiogonro\Documents\dde\unisabana-presentation-system\core\brand\assets\brand-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685800" y="2957513"/>
            <a:ext cx="8229600" cy="10287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“La investigación aplicada es el puente entre el conocimiento y el bienestar de la sociedad.”</a:t>
            </a:r>
            <a:endParaRPr lang="en-US" sz="3000" dirty="0"/>
          </a:p>
        </p:txBody>
      </p:sp>
      <p:sp>
        <p:nvSpPr>
          <p:cNvPr id="28" name="Text 25"/>
          <p:cNvSpPr/>
          <p:nvPr/>
        </p:nvSpPr>
        <p:spPr>
          <a:xfrm>
            <a:off x="685800" y="4271963"/>
            <a:ext cx="7315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— Rectoría, Universidad de La Sabana</a:t>
            </a:r>
            <a:endParaRPr lang="en-US" sz="1500" dirty="0"/>
          </a:p>
        </p:txBody>
      </p:sp>
      <p:pic>
        <p:nvPicPr>
          <p:cNvPr id="29" name="Image 1" descr="C:\Users\sergiogonro\Documents\dde\unisabana-presentation-system\core\brand\assets\logo-horizontal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33400"/>
            <a:ext cx="1765266" cy="752475"/>
          </a:xfrm>
          <a:prstGeom prst="rect">
            <a:avLst/>
          </a:prstGeom>
        </p:spPr>
      </p:pic>
      <p:pic>
        <p:nvPicPr>
          <p:cNvPr id="30" name="Image 2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sp>
        <p:nvSpPr>
          <p:cNvPr id="32" name="Text 27"/>
          <p:cNvSpPr/>
          <p:nvPr/>
        </p:nvSpPr>
        <p:spPr>
          <a:xfrm>
            <a:off x="304800" y="6400800"/>
            <a:ext cx="76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12 / 13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17144" cy="6858000"/>
          </a:xfrm>
          <a:prstGeom prst="rect">
            <a:avLst/>
          </a:prstGeom>
          <a:solidFill>
            <a:srgbClr val="003A86"/>
          </a:solidFill>
          <a:ln/>
        </p:spPr>
      </p:sp>
      <p:sp>
        <p:nvSpPr>
          <p:cNvPr id="3" name="Shape 1"/>
          <p:cNvSpPr/>
          <p:nvPr/>
        </p:nvSpPr>
        <p:spPr>
          <a:xfrm>
            <a:off x="508000" y="0"/>
            <a:ext cx="517144" cy="6858000"/>
          </a:xfrm>
          <a:prstGeom prst="rect">
            <a:avLst/>
          </a:prstGeom>
          <a:solidFill>
            <a:srgbClr val="013984"/>
          </a:solidFill>
          <a:ln/>
        </p:spPr>
      </p:sp>
      <p:sp>
        <p:nvSpPr>
          <p:cNvPr id="4" name="Shape 2"/>
          <p:cNvSpPr/>
          <p:nvPr/>
        </p:nvSpPr>
        <p:spPr>
          <a:xfrm>
            <a:off x="1016000" y="0"/>
            <a:ext cx="517144" cy="6858000"/>
          </a:xfrm>
          <a:prstGeom prst="rect">
            <a:avLst/>
          </a:prstGeom>
          <a:solidFill>
            <a:srgbClr val="013882"/>
          </a:solidFill>
          <a:ln/>
        </p:spPr>
      </p:sp>
      <p:sp>
        <p:nvSpPr>
          <p:cNvPr id="5" name="Shape 3"/>
          <p:cNvSpPr/>
          <p:nvPr/>
        </p:nvSpPr>
        <p:spPr>
          <a:xfrm>
            <a:off x="1524000" y="0"/>
            <a:ext cx="517144" cy="6858000"/>
          </a:xfrm>
          <a:prstGeom prst="rect">
            <a:avLst/>
          </a:prstGeom>
          <a:solidFill>
            <a:srgbClr val="023780"/>
          </a:solidFill>
          <a:ln/>
        </p:spPr>
      </p:sp>
      <p:sp>
        <p:nvSpPr>
          <p:cNvPr id="6" name="Shape 4"/>
          <p:cNvSpPr/>
          <p:nvPr/>
        </p:nvSpPr>
        <p:spPr>
          <a:xfrm>
            <a:off x="2032000" y="0"/>
            <a:ext cx="517144" cy="6858000"/>
          </a:xfrm>
          <a:prstGeom prst="rect">
            <a:avLst/>
          </a:prstGeom>
          <a:solidFill>
            <a:srgbClr val="02367E"/>
          </a:solidFill>
          <a:ln/>
        </p:spPr>
      </p:sp>
      <p:sp>
        <p:nvSpPr>
          <p:cNvPr id="7" name="Shape 5"/>
          <p:cNvSpPr/>
          <p:nvPr/>
        </p:nvSpPr>
        <p:spPr>
          <a:xfrm>
            <a:off x="2540000" y="0"/>
            <a:ext cx="517144" cy="6858000"/>
          </a:xfrm>
          <a:prstGeom prst="rect">
            <a:avLst/>
          </a:prstGeom>
          <a:solidFill>
            <a:srgbClr val="03357C"/>
          </a:solidFill>
          <a:ln/>
        </p:spPr>
      </p:sp>
      <p:sp>
        <p:nvSpPr>
          <p:cNvPr id="8" name="Shape 6"/>
          <p:cNvSpPr/>
          <p:nvPr/>
        </p:nvSpPr>
        <p:spPr>
          <a:xfrm>
            <a:off x="3048000" y="0"/>
            <a:ext cx="517144" cy="6858000"/>
          </a:xfrm>
          <a:prstGeom prst="rect">
            <a:avLst/>
          </a:prstGeom>
          <a:solidFill>
            <a:srgbClr val="03337A"/>
          </a:solidFill>
          <a:ln/>
        </p:spPr>
      </p:sp>
      <p:sp>
        <p:nvSpPr>
          <p:cNvPr id="9" name="Shape 7"/>
          <p:cNvSpPr/>
          <p:nvPr/>
        </p:nvSpPr>
        <p:spPr>
          <a:xfrm>
            <a:off x="3556000" y="0"/>
            <a:ext cx="517144" cy="6858000"/>
          </a:xfrm>
          <a:prstGeom prst="rect">
            <a:avLst/>
          </a:prstGeom>
          <a:solidFill>
            <a:srgbClr val="043278"/>
          </a:solidFill>
          <a:ln/>
        </p:spPr>
      </p:sp>
      <p:sp>
        <p:nvSpPr>
          <p:cNvPr id="10" name="Shape 8"/>
          <p:cNvSpPr/>
          <p:nvPr/>
        </p:nvSpPr>
        <p:spPr>
          <a:xfrm>
            <a:off x="4064000" y="0"/>
            <a:ext cx="517144" cy="6858000"/>
          </a:xfrm>
          <a:prstGeom prst="rect">
            <a:avLst/>
          </a:prstGeom>
          <a:solidFill>
            <a:srgbClr val="053176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0" y="0"/>
            <a:ext cx="517144" cy="6858000"/>
          </a:xfrm>
          <a:prstGeom prst="rect">
            <a:avLst/>
          </a:prstGeom>
          <a:solidFill>
            <a:srgbClr val="053074"/>
          </a:solidFill>
          <a:ln/>
        </p:spPr>
      </p:sp>
      <p:sp>
        <p:nvSpPr>
          <p:cNvPr id="12" name="Shape 10"/>
          <p:cNvSpPr/>
          <p:nvPr/>
        </p:nvSpPr>
        <p:spPr>
          <a:xfrm>
            <a:off x="5080000" y="0"/>
            <a:ext cx="517144" cy="6858000"/>
          </a:xfrm>
          <a:prstGeom prst="rect">
            <a:avLst/>
          </a:prstGeom>
          <a:solidFill>
            <a:srgbClr val="062F72"/>
          </a:solidFill>
          <a:ln/>
        </p:spPr>
      </p:sp>
      <p:sp>
        <p:nvSpPr>
          <p:cNvPr id="13" name="Shape 11"/>
          <p:cNvSpPr/>
          <p:nvPr/>
        </p:nvSpPr>
        <p:spPr>
          <a:xfrm>
            <a:off x="5588000" y="0"/>
            <a:ext cx="517144" cy="6858000"/>
          </a:xfrm>
          <a:prstGeom prst="rect">
            <a:avLst/>
          </a:prstGeom>
          <a:solidFill>
            <a:srgbClr val="062E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096000" y="0"/>
            <a:ext cx="517144" cy="6858000"/>
          </a:xfrm>
          <a:prstGeom prst="rect">
            <a:avLst/>
          </a:prstGeom>
          <a:solidFill>
            <a:srgbClr val="072D6D"/>
          </a:solidFill>
          <a:ln/>
        </p:spPr>
      </p:sp>
      <p:sp>
        <p:nvSpPr>
          <p:cNvPr id="15" name="Shape 13"/>
          <p:cNvSpPr/>
          <p:nvPr/>
        </p:nvSpPr>
        <p:spPr>
          <a:xfrm>
            <a:off x="6604000" y="0"/>
            <a:ext cx="517144" cy="6858000"/>
          </a:xfrm>
          <a:prstGeom prst="rect">
            <a:avLst/>
          </a:prstGeom>
          <a:solidFill>
            <a:srgbClr val="072C6B"/>
          </a:solidFill>
          <a:ln/>
        </p:spPr>
      </p:sp>
      <p:sp>
        <p:nvSpPr>
          <p:cNvPr id="16" name="Shape 14"/>
          <p:cNvSpPr/>
          <p:nvPr/>
        </p:nvSpPr>
        <p:spPr>
          <a:xfrm>
            <a:off x="7112000" y="0"/>
            <a:ext cx="517144" cy="6858000"/>
          </a:xfrm>
          <a:prstGeom prst="rect">
            <a:avLst/>
          </a:prstGeom>
          <a:solidFill>
            <a:srgbClr val="082B69"/>
          </a:solidFill>
          <a:ln/>
        </p:spPr>
      </p:sp>
      <p:sp>
        <p:nvSpPr>
          <p:cNvPr id="17" name="Shape 15"/>
          <p:cNvSpPr/>
          <p:nvPr/>
        </p:nvSpPr>
        <p:spPr>
          <a:xfrm>
            <a:off x="7620000" y="0"/>
            <a:ext cx="517144" cy="6858000"/>
          </a:xfrm>
          <a:prstGeom prst="rect">
            <a:avLst/>
          </a:prstGeom>
          <a:solidFill>
            <a:srgbClr val="082A67"/>
          </a:solidFill>
          <a:ln/>
        </p:spPr>
      </p:sp>
      <p:sp>
        <p:nvSpPr>
          <p:cNvPr id="18" name="Shape 16"/>
          <p:cNvSpPr/>
          <p:nvPr/>
        </p:nvSpPr>
        <p:spPr>
          <a:xfrm>
            <a:off x="8128000" y="0"/>
            <a:ext cx="517144" cy="6858000"/>
          </a:xfrm>
          <a:prstGeom prst="rect">
            <a:avLst/>
          </a:prstGeom>
          <a:solidFill>
            <a:srgbClr val="092965"/>
          </a:solidFill>
          <a:ln/>
        </p:spPr>
      </p:sp>
      <p:sp>
        <p:nvSpPr>
          <p:cNvPr id="19" name="Shape 17"/>
          <p:cNvSpPr/>
          <p:nvPr/>
        </p:nvSpPr>
        <p:spPr>
          <a:xfrm>
            <a:off x="8636000" y="0"/>
            <a:ext cx="517144" cy="6858000"/>
          </a:xfrm>
          <a:prstGeom prst="rect">
            <a:avLst/>
          </a:prstGeom>
          <a:solidFill>
            <a:srgbClr val="0A2863"/>
          </a:solidFill>
          <a:ln/>
        </p:spPr>
      </p:sp>
      <p:sp>
        <p:nvSpPr>
          <p:cNvPr id="20" name="Shape 18"/>
          <p:cNvSpPr/>
          <p:nvPr/>
        </p:nvSpPr>
        <p:spPr>
          <a:xfrm>
            <a:off x="9144000" y="0"/>
            <a:ext cx="517144" cy="6858000"/>
          </a:xfrm>
          <a:prstGeom prst="rect">
            <a:avLst/>
          </a:prstGeom>
          <a:solidFill>
            <a:srgbClr val="0A2661"/>
          </a:solidFill>
          <a:ln/>
        </p:spPr>
      </p:sp>
      <p:sp>
        <p:nvSpPr>
          <p:cNvPr id="21" name="Shape 19"/>
          <p:cNvSpPr/>
          <p:nvPr/>
        </p:nvSpPr>
        <p:spPr>
          <a:xfrm>
            <a:off x="9652000" y="0"/>
            <a:ext cx="517144" cy="6858000"/>
          </a:xfrm>
          <a:prstGeom prst="rect">
            <a:avLst/>
          </a:prstGeom>
          <a:solidFill>
            <a:srgbClr val="0B255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60000" y="0"/>
            <a:ext cx="517144" cy="6858000"/>
          </a:xfrm>
          <a:prstGeom prst="rect">
            <a:avLst/>
          </a:prstGeom>
          <a:solidFill>
            <a:srgbClr val="0B245D"/>
          </a:solidFill>
          <a:ln/>
        </p:spPr>
      </p:sp>
      <p:sp>
        <p:nvSpPr>
          <p:cNvPr id="23" name="Shape 21"/>
          <p:cNvSpPr/>
          <p:nvPr/>
        </p:nvSpPr>
        <p:spPr>
          <a:xfrm>
            <a:off x="10668000" y="0"/>
            <a:ext cx="517144" cy="6858000"/>
          </a:xfrm>
          <a:prstGeom prst="rect">
            <a:avLst/>
          </a:prstGeom>
          <a:solidFill>
            <a:srgbClr val="0C235B"/>
          </a:solidFill>
          <a:ln/>
        </p:spPr>
      </p:sp>
      <p:sp>
        <p:nvSpPr>
          <p:cNvPr id="24" name="Shape 22"/>
          <p:cNvSpPr/>
          <p:nvPr/>
        </p:nvSpPr>
        <p:spPr>
          <a:xfrm>
            <a:off x="11176000" y="0"/>
            <a:ext cx="517144" cy="6858000"/>
          </a:xfrm>
          <a:prstGeom prst="rect">
            <a:avLst/>
          </a:prstGeom>
          <a:solidFill>
            <a:srgbClr val="0C2259"/>
          </a:solidFill>
          <a:ln/>
        </p:spPr>
      </p:sp>
      <p:sp>
        <p:nvSpPr>
          <p:cNvPr id="25" name="Shape 23"/>
          <p:cNvSpPr/>
          <p:nvPr/>
        </p:nvSpPr>
        <p:spPr>
          <a:xfrm>
            <a:off x="11684000" y="0"/>
            <a:ext cx="517144" cy="6858000"/>
          </a:xfrm>
          <a:prstGeom prst="rect">
            <a:avLst/>
          </a:prstGeom>
          <a:solidFill>
            <a:srgbClr val="0D2157"/>
          </a:solidFill>
          <a:ln/>
        </p:spPr>
      </p:sp>
      <p:pic>
        <p:nvPicPr>
          <p:cNvPr id="26" name="Image 0" descr="C:\Users\sergiogonro\Documents\dde\unisabana-presentation-system\core\brand\assets\brand-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685800" y="2557463"/>
            <a:ext cx="8229600" cy="17049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Seguimos construyendo una universidad que transforma su entorno</a:t>
            </a:r>
            <a:endParaRPr lang="en-US" sz="3900" dirty="0"/>
          </a:p>
        </p:txBody>
      </p:sp>
      <p:sp>
        <p:nvSpPr>
          <p:cNvPr id="28" name="Text 25"/>
          <p:cNvSpPr/>
          <p:nvPr/>
        </p:nvSpPr>
        <p:spPr>
          <a:xfrm>
            <a:off x="685800" y="4643438"/>
            <a:ext cx="7315200" cy="295275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contacto@ejemplo.edu.co (dato ficticio de ejemplo)</a:t>
            </a:r>
            <a:endParaRPr lang="en-US" sz="1500" dirty="0"/>
          </a:p>
        </p:txBody>
      </p:sp>
      <p:pic>
        <p:nvPicPr>
          <p:cNvPr id="29" name="Image 1" descr="C:\Users\sergiogonro\Documents\dde\unisabana-presentation-system\core\brand\assets\logo-horizontal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33400"/>
            <a:ext cx="1765266" cy="752475"/>
          </a:xfrm>
          <a:prstGeom prst="rect">
            <a:avLst/>
          </a:prstGeom>
        </p:spPr>
      </p:pic>
      <p:pic>
        <p:nvPicPr>
          <p:cNvPr id="30" name="Image 2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sp>
        <p:nvSpPr>
          <p:cNvPr id="32" name="Text 27"/>
          <p:cNvSpPr/>
          <p:nvPr/>
        </p:nvSpPr>
        <p:spPr>
          <a:xfrm>
            <a:off x="304800" y="6400800"/>
            <a:ext cx="76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13 / 13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Resultados institucionales 2025</dc:title>
  <dc:subject>PptxGenJS Presentation</dc:subject>
  <dc:creator>PptxGenJS</dc:creator>
  <cp:lastModifiedBy>PptxGenJS</cp:lastModifiedBy>
  <cp:revision>1</cp:revision>
  <dcterms:created xsi:type="dcterms:W3CDTF">2026-07-27T22:22:18Z</dcterms:created>
  <dcterms:modified xsi:type="dcterms:W3CDTF">2026-07-27T22:22:18Z</dcterms:modified>
</cp:coreProperties>
</file>