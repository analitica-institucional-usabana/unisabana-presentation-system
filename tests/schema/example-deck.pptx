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sv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sergiogonro\Documents\dde\unisabana-presentation-system\core\brand\assets\campus-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2157">
              <a:alpha val="65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685800" y="2214563"/>
            <a:ext cx="929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8B1D3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INFORME ANUAL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85800" y="2595563"/>
            <a:ext cx="9296400" cy="2105025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La Universidad consolidó su crecimiento en investigación durante 2025</a:t>
            </a:r>
            <a:endParaRPr lang="en-US" sz="4800" dirty="0"/>
          </a:p>
        </p:txBody>
      </p:sp>
      <p:sp>
        <p:nvSpPr>
          <p:cNvPr id="6" name="Text 3"/>
          <p:cNvSpPr/>
          <p:nvPr/>
        </p:nvSpPr>
        <p:spPr>
          <a:xfrm>
            <a:off x="685800" y="4929188"/>
            <a:ext cx="9296400" cy="352425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98B1D3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Informe de resultados ante el Consejo Directivo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685800" y="6019800"/>
            <a:ext cx="92964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8B1D3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Rectoría · noviembre de 2025</a:t>
            </a:r>
            <a:endParaRPr lang="en-US" sz="1200" dirty="0"/>
          </a:p>
        </p:txBody>
      </p:sp>
      <p:pic>
        <p:nvPicPr>
          <p:cNvPr id="8" name="Image 1" descr="C:\Users\sergiogonro\Documents\dde\unisabana-presentation-system\core\brand\assets\logo-horizontal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533400"/>
            <a:ext cx="1765266" cy="752475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696450" y="6400800"/>
            <a:ext cx="195325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8B1D3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Diseñado con Claude Design</a:t>
            </a:r>
            <a:endParaRPr lang="en-US" sz="1050" dirty="0"/>
          </a:p>
        </p:txBody>
      </p:sp>
      <p:pic>
        <p:nvPicPr>
          <p:cNvPr id="10" name="Image 2" descr="C:\Users\sergiogonro\Documents\dde\unisabana-presentation-system\core\brand\assets\claude-logo.sv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725905" y="6434138"/>
            <a:ext cx="161295" cy="16192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509713"/>
            <a:ext cx="5486400" cy="561975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825" b="1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Agenda</a:t>
            </a:r>
            <a:endParaRPr lang="en-US" sz="3825" dirty="0"/>
          </a:p>
        </p:txBody>
      </p:sp>
      <p:sp>
        <p:nvSpPr>
          <p:cNvPr id="3" name="Text 1"/>
          <p:cNvSpPr/>
          <p:nvPr/>
        </p:nvSpPr>
        <p:spPr>
          <a:xfrm>
            <a:off x="685800" y="2528888"/>
            <a:ext cx="731520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01  </a:t>
            </a:r>
            <a:pPr indent="0" marL="0">
              <a:buNone/>
            </a:pPr>
            <a:r>
              <a:rPr lang="en-US" sz="1500" b="1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Contexto institucional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85800" y="3138488"/>
            <a:ext cx="731520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02  </a:t>
            </a:r>
            <a:pPr indent="0" marL="0">
              <a:buNone/>
            </a:pPr>
            <a:r>
              <a:rPr lang="en-US" sz="1500" b="1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Resultados financieros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" y="3748087"/>
            <a:ext cx="731520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03  </a:t>
            </a:r>
            <a:pPr indent="0" marL="0">
              <a:buNone/>
            </a:pPr>
            <a:r>
              <a:rPr lang="en-US" sz="1500" b="1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Resultados de investigación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85800" y="4357688"/>
            <a:ext cx="731520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04  </a:t>
            </a:r>
            <a:pPr indent="0" marL="0">
              <a:buNone/>
            </a:pPr>
            <a:r>
              <a:rPr lang="en-US" sz="1500" b="1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Comparación entre facultades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85800" y="4967288"/>
            <a:ext cx="731520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05  </a:t>
            </a:r>
            <a:pPr indent="0" marL="0">
              <a:buNone/>
            </a:pPr>
            <a:r>
              <a:rPr lang="en-US" sz="1500" b="1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Cierre y próximos pasos</a:t>
            </a:r>
            <a:endParaRPr lang="en-US" sz="1800" dirty="0"/>
          </a:p>
        </p:txBody>
      </p:sp>
      <p:pic>
        <p:nvPicPr>
          <p:cNvPr id="8" name="Image 0" descr="C:\Users\sergiogonro\Documents\dde\unisabana-presentation-system\core\brand\assets\logo-horizontal-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33400"/>
            <a:ext cx="804425" cy="3429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9696450" y="6400800"/>
            <a:ext cx="195325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17175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Diseñado con Claude Design</a:t>
            </a:r>
            <a:endParaRPr lang="en-US" sz="1050" dirty="0"/>
          </a:p>
        </p:txBody>
      </p:sp>
      <p:pic>
        <p:nvPicPr>
          <p:cNvPr id="10" name="Image 1" descr="C:\Users\sergiogonro\Documents\dde\unisabana-presentation-system\core\brand\assets\claude-logo.sv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725905" y="6434138"/>
            <a:ext cx="161295" cy="16192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DCE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662113"/>
            <a:ext cx="10820400" cy="561975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825" b="1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Agenda (variante grid)</a:t>
            </a:r>
            <a:endParaRPr lang="en-US" sz="3825" dirty="0"/>
          </a:p>
        </p:txBody>
      </p:sp>
      <p:sp>
        <p:nvSpPr>
          <p:cNvPr id="3" name="Shape 1"/>
          <p:cNvSpPr/>
          <p:nvPr/>
        </p:nvSpPr>
        <p:spPr>
          <a:xfrm>
            <a:off x="685800" y="2681288"/>
            <a:ext cx="3403600" cy="1257300"/>
          </a:xfrm>
          <a:prstGeom prst="rect">
            <a:avLst/>
          </a:prstGeom>
          <a:solidFill>
            <a:srgbClr val="FFFFFF"/>
          </a:solidFill>
          <a:ln w="9525">
            <a:solidFill>
              <a:srgbClr val="C2C3C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900680" y="2626424"/>
            <a:ext cx="1188720" cy="94297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5400" b="1" dirty="0">
                <a:solidFill>
                  <a:srgbClr val="DCE5F3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01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886968" y="2845880"/>
            <a:ext cx="3001264" cy="9281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Contexto institucional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394200" y="2681288"/>
            <a:ext cx="3403600" cy="1257300"/>
          </a:xfrm>
          <a:prstGeom prst="rect">
            <a:avLst/>
          </a:prstGeom>
          <a:solidFill>
            <a:srgbClr val="FFFFFF"/>
          </a:solidFill>
          <a:ln w="9525">
            <a:solidFill>
              <a:srgbClr val="C2C3C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609080" y="2626424"/>
            <a:ext cx="1188720" cy="94297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5400" b="1" dirty="0">
                <a:solidFill>
                  <a:srgbClr val="DCE5F3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02</a:t>
            </a:r>
            <a:endParaRPr lang="en-US" sz="5400" dirty="0"/>
          </a:p>
        </p:txBody>
      </p:sp>
      <p:sp>
        <p:nvSpPr>
          <p:cNvPr id="8" name="Text 6"/>
          <p:cNvSpPr/>
          <p:nvPr/>
        </p:nvSpPr>
        <p:spPr>
          <a:xfrm>
            <a:off x="4595368" y="2845880"/>
            <a:ext cx="3001264" cy="9281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Resultados financieros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102600" y="2681288"/>
            <a:ext cx="3403600" cy="1257300"/>
          </a:xfrm>
          <a:prstGeom prst="rect">
            <a:avLst/>
          </a:prstGeom>
          <a:solidFill>
            <a:srgbClr val="FFFFFF"/>
          </a:solidFill>
          <a:ln w="9525">
            <a:solidFill>
              <a:srgbClr val="C2C3C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317480" y="2626424"/>
            <a:ext cx="1188720" cy="94297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5400" b="1" dirty="0">
                <a:solidFill>
                  <a:srgbClr val="DCE5F3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03</a:t>
            </a:r>
            <a:endParaRPr lang="en-US" sz="5400" dirty="0"/>
          </a:p>
        </p:txBody>
      </p:sp>
      <p:sp>
        <p:nvSpPr>
          <p:cNvPr id="11" name="Text 9"/>
          <p:cNvSpPr/>
          <p:nvPr/>
        </p:nvSpPr>
        <p:spPr>
          <a:xfrm>
            <a:off x="8303768" y="2845880"/>
            <a:ext cx="3001264" cy="9281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Resultados de investigación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85800" y="4167187"/>
            <a:ext cx="3403600" cy="1257300"/>
          </a:xfrm>
          <a:prstGeom prst="rect">
            <a:avLst/>
          </a:prstGeom>
          <a:solidFill>
            <a:srgbClr val="FFFFFF"/>
          </a:solidFill>
          <a:ln w="9525">
            <a:solidFill>
              <a:srgbClr val="C2C3C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900680" y="4112324"/>
            <a:ext cx="1188720" cy="94297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5400" b="1" dirty="0">
                <a:solidFill>
                  <a:srgbClr val="DCE5F3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04</a:t>
            </a:r>
            <a:endParaRPr lang="en-US" sz="5400" dirty="0"/>
          </a:p>
        </p:txBody>
      </p:sp>
      <p:sp>
        <p:nvSpPr>
          <p:cNvPr id="14" name="Text 12"/>
          <p:cNvSpPr/>
          <p:nvPr/>
        </p:nvSpPr>
        <p:spPr>
          <a:xfrm>
            <a:off x="886968" y="4331779"/>
            <a:ext cx="3001264" cy="9281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Comparación entre facultades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394200" y="4167187"/>
            <a:ext cx="3403600" cy="1257300"/>
          </a:xfrm>
          <a:prstGeom prst="rect">
            <a:avLst/>
          </a:prstGeom>
          <a:solidFill>
            <a:srgbClr val="FFFFFF"/>
          </a:solidFill>
          <a:ln w="9525">
            <a:solidFill>
              <a:srgbClr val="C2C3C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09080" y="4112324"/>
            <a:ext cx="1188720" cy="94297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5400" b="1" dirty="0">
                <a:solidFill>
                  <a:srgbClr val="DCE5F3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05</a:t>
            </a:r>
            <a:endParaRPr lang="en-US" sz="5400" dirty="0"/>
          </a:p>
        </p:txBody>
      </p:sp>
      <p:sp>
        <p:nvSpPr>
          <p:cNvPr id="17" name="Text 15"/>
          <p:cNvSpPr/>
          <p:nvPr/>
        </p:nvSpPr>
        <p:spPr>
          <a:xfrm>
            <a:off x="4595368" y="4331779"/>
            <a:ext cx="3001264" cy="9281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Cierre y próximos pasos</a:t>
            </a:r>
            <a:endParaRPr lang="en-US" sz="1400" dirty="0"/>
          </a:p>
        </p:txBody>
      </p:sp>
      <p:pic>
        <p:nvPicPr>
          <p:cNvPr id="18" name="Image 0" descr="C:\Users\sergiogonro\Documents\dde\unisabana-presentation-system\core\brand\assets\logo-horizontal-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33400"/>
            <a:ext cx="804425" cy="342900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9696450" y="6400800"/>
            <a:ext cx="195325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17175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Diseñado con Claude Design</a:t>
            </a:r>
            <a:endParaRPr lang="en-US" sz="1050" dirty="0"/>
          </a:p>
        </p:txBody>
      </p:sp>
      <p:pic>
        <p:nvPicPr>
          <p:cNvPr id="20" name="Image 1" descr="C:\Users\sergiogonro\Documents\dde\unisabana-presentation-system\core\brand\assets\claude-logo.sv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725905" y="6434138"/>
            <a:ext cx="161295" cy="16192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17144" cy="6858000"/>
          </a:xfrm>
          <a:prstGeom prst="rect">
            <a:avLst/>
          </a:prstGeom>
          <a:solidFill>
            <a:srgbClr val="003A86"/>
          </a:solidFill>
          <a:ln/>
        </p:spPr>
      </p:sp>
      <p:sp>
        <p:nvSpPr>
          <p:cNvPr id="3" name="Shape 1"/>
          <p:cNvSpPr/>
          <p:nvPr/>
        </p:nvSpPr>
        <p:spPr>
          <a:xfrm>
            <a:off x="508000" y="0"/>
            <a:ext cx="517144" cy="6858000"/>
          </a:xfrm>
          <a:prstGeom prst="rect">
            <a:avLst/>
          </a:prstGeom>
          <a:solidFill>
            <a:srgbClr val="013984"/>
          </a:solidFill>
          <a:ln/>
        </p:spPr>
      </p:sp>
      <p:sp>
        <p:nvSpPr>
          <p:cNvPr id="4" name="Shape 2"/>
          <p:cNvSpPr/>
          <p:nvPr/>
        </p:nvSpPr>
        <p:spPr>
          <a:xfrm>
            <a:off x="1016000" y="0"/>
            <a:ext cx="517144" cy="6858000"/>
          </a:xfrm>
          <a:prstGeom prst="rect">
            <a:avLst/>
          </a:prstGeom>
          <a:solidFill>
            <a:srgbClr val="013882"/>
          </a:solidFill>
          <a:ln/>
        </p:spPr>
      </p:sp>
      <p:sp>
        <p:nvSpPr>
          <p:cNvPr id="5" name="Shape 3"/>
          <p:cNvSpPr/>
          <p:nvPr/>
        </p:nvSpPr>
        <p:spPr>
          <a:xfrm>
            <a:off x="1524000" y="0"/>
            <a:ext cx="517144" cy="6858000"/>
          </a:xfrm>
          <a:prstGeom prst="rect">
            <a:avLst/>
          </a:prstGeom>
          <a:solidFill>
            <a:srgbClr val="023780"/>
          </a:solidFill>
          <a:ln/>
        </p:spPr>
      </p:sp>
      <p:sp>
        <p:nvSpPr>
          <p:cNvPr id="6" name="Shape 4"/>
          <p:cNvSpPr/>
          <p:nvPr/>
        </p:nvSpPr>
        <p:spPr>
          <a:xfrm>
            <a:off x="2032000" y="0"/>
            <a:ext cx="517144" cy="6858000"/>
          </a:xfrm>
          <a:prstGeom prst="rect">
            <a:avLst/>
          </a:prstGeom>
          <a:solidFill>
            <a:srgbClr val="02367E"/>
          </a:solidFill>
          <a:ln/>
        </p:spPr>
      </p:sp>
      <p:sp>
        <p:nvSpPr>
          <p:cNvPr id="7" name="Shape 5"/>
          <p:cNvSpPr/>
          <p:nvPr/>
        </p:nvSpPr>
        <p:spPr>
          <a:xfrm>
            <a:off x="2540000" y="0"/>
            <a:ext cx="517144" cy="6858000"/>
          </a:xfrm>
          <a:prstGeom prst="rect">
            <a:avLst/>
          </a:prstGeom>
          <a:solidFill>
            <a:srgbClr val="03357C"/>
          </a:solidFill>
          <a:ln/>
        </p:spPr>
      </p:sp>
      <p:sp>
        <p:nvSpPr>
          <p:cNvPr id="8" name="Shape 6"/>
          <p:cNvSpPr/>
          <p:nvPr/>
        </p:nvSpPr>
        <p:spPr>
          <a:xfrm>
            <a:off x="3048000" y="0"/>
            <a:ext cx="517144" cy="6858000"/>
          </a:xfrm>
          <a:prstGeom prst="rect">
            <a:avLst/>
          </a:prstGeom>
          <a:solidFill>
            <a:srgbClr val="03337A"/>
          </a:solidFill>
          <a:ln/>
        </p:spPr>
      </p:sp>
      <p:sp>
        <p:nvSpPr>
          <p:cNvPr id="9" name="Shape 7"/>
          <p:cNvSpPr/>
          <p:nvPr/>
        </p:nvSpPr>
        <p:spPr>
          <a:xfrm>
            <a:off x="3556000" y="0"/>
            <a:ext cx="517144" cy="6858000"/>
          </a:xfrm>
          <a:prstGeom prst="rect">
            <a:avLst/>
          </a:prstGeom>
          <a:solidFill>
            <a:srgbClr val="043278"/>
          </a:solidFill>
          <a:ln/>
        </p:spPr>
      </p:sp>
      <p:sp>
        <p:nvSpPr>
          <p:cNvPr id="10" name="Shape 8"/>
          <p:cNvSpPr/>
          <p:nvPr/>
        </p:nvSpPr>
        <p:spPr>
          <a:xfrm>
            <a:off x="4064000" y="0"/>
            <a:ext cx="517144" cy="6858000"/>
          </a:xfrm>
          <a:prstGeom prst="rect">
            <a:avLst/>
          </a:prstGeom>
          <a:solidFill>
            <a:srgbClr val="053176"/>
          </a:solidFill>
          <a:ln/>
        </p:spPr>
      </p:sp>
      <p:sp>
        <p:nvSpPr>
          <p:cNvPr id="11" name="Shape 9"/>
          <p:cNvSpPr/>
          <p:nvPr/>
        </p:nvSpPr>
        <p:spPr>
          <a:xfrm>
            <a:off x="4572000" y="0"/>
            <a:ext cx="517144" cy="6858000"/>
          </a:xfrm>
          <a:prstGeom prst="rect">
            <a:avLst/>
          </a:prstGeom>
          <a:solidFill>
            <a:srgbClr val="053074"/>
          </a:solidFill>
          <a:ln/>
        </p:spPr>
      </p:sp>
      <p:sp>
        <p:nvSpPr>
          <p:cNvPr id="12" name="Shape 10"/>
          <p:cNvSpPr/>
          <p:nvPr/>
        </p:nvSpPr>
        <p:spPr>
          <a:xfrm>
            <a:off x="5080000" y="0"/>
            <a:ext cx="517144" cy="6858000"/>
          </a:xfrm>
          <a:prstGeom prst="rect">
            <a:avLst/>
          </a:prstGeom>
          <a:solidFill>
            <a:srgbClr val="062F72"/>
          </a:solidFill>
          <a:ln/>
        </p:spPr>
      </p:sp>
      <p:sp>
        <p:nvSpPr>
          <p:cNvPr id="13" name="Shape 11"/>
          <p:cNvSpPr/>
          <p:nvPr/>
        </p:nvSpPr>
        <p:spPr>
          <a:xfrm>
            <a:off x="5588000" y="0"/>
            <a:ext cx="517144" cy="6858000"/>
          </a:xfrm>
          <a:prstGeom prst="rect">
            <a:avLst/>
          </a:prstGeom>
          <a:solidFill>
            <a:srgbClr val="062E70"/>
          </a:solidFill>
          <a:ln/>
        </p:spPr>
      </p:sp>
      <p:sp>
        <p:nvSpPr>
          <p:cNvPr id="14" name="Shape 12"/>
          <p:cNvSpPr/>
          <p:nvPr/>
        </p:nvSpPr>
        <p:spPr>
          <a:xfrm>
            <a:off x="6096000" y="0"/>
            <a:ext cx="517144" cy="6858000"/>
          </a:xfrm>
          <a:prstGeom prst="rect">
            <a:avLst/>
          </a:prstGeom>
          <a:solidFill>
            <a:srgbClr val="072D6D"/>
          </a:solidFill>
          <a:ln/>
        </p:spPr>
      </p:sp>
      <p:sp>
        <p:nvSpPr>
          <p:cNvPr id="15" name="Shape 13"/>
          <p:cNvSpPr/>
          <p:nvPr/>
        </p:nvSpPr>
        <p:spPr>
          <a:xfrm>
            <a:off x="6604000" y="0"/>
            <a:ext cx="517144" cy="6858000"/>
          </a:xfrm>
          <a:prstGeom prst="rect">
            <a:avLst/>
          </a:prstGeom>
          <a:solidFill>
            <a:srgbClr val="072C6B"/>
          </a:solidFill>
          <a:ln/>
        </p:spPr>
      </p:sp>
      <p:sp>
        <p:nvSpPr>
          <p:cNvPr id="16" name="Shape 14"/>
          <p:cNvSpPr/>
          <p:nvPr/>
        </p:nvSpPr>
        <p:spPr>
          <a:xfrm>
            <a:off x="7112000" y="0"/>
            <a:ext cx="517144" cy="6858000"/>
          </a:xfrm>
          <a:prstGeom prst="rect">
            <a:avLst/>
          </a:prstGeom>
          <a:solidFill>
            <a:srgbClr val="082B69"/>
          </a:solidFill>
          <a:ln/>
        </p:spPr>
      </p:sp>
      <p:sp>
        <p:nvSpPr>
          <p:cNvPr id="17" name="Shape 15"/>
          <p:cNvSpPr/>
          <p:nvPr/>
        </p:nvSpPr>
        <p:spPr>
          <a:xfrm>
            <a:off x="7620000" y="0"/>
            <a:ext cx="517144" cy="6858000"/>
          </a:xfrm>
          <a:prstGeom prst="rect">
            <a:avLst/>
          </a:prstGeom>
          <a:solidFill>
            <a:srgbClr val="082A67"/>
          </a:solidFill>
          <a:ln/>
        </p:spPr>
      </p:sp>
      <p:sp>
        <p:nvSpPr>
          <p:cNvPr id="18" name="Shape 16"/>
          <p:cNvSpPr/>
          <p:nvPr/>
        </p:nvSpPr>
        <p:spPr>
          <a:xfrm>
            <a:off x="8128000" y="0"/>
            <a:ext cx="517144" cy="6858000"/>
          </a:xfrm>
          <a:prstGeom prst="rect">
            <a:avLst/>
          </a:prstGeom>
          <a:solidFill>
            <a:srgbClr val="092965"/>
          </a:solidFill>
          <a:ln/>
        </p:spPr>
      </p:sp>
      <p:sp>
        <p:nvSpPr>
          <p:cNvPr id="19" name="Shape 17"/>
          <p:cNvSpPr/>
          <p:nvPr/>
        </p:nvSpPr>
        <p:spPr>
          <a:xfrm>
            <a:off x="8636000" y="0"/>
            <a:ext cx="517144" cy="6858000"/>
          </a:xfrm>
          <a:prstGeom prst="rect">
            <a:avLst/>
          </a:prstGeom>
          <a:solidFill>
            <a:srgbClr val="0A2863"/>
          </a:solidFill>
          <a:ln/>
        </p:spPr>
      </p:sp>
      <p:sp>
        <p:nvSpPr>
          <p:cNvPr id="20" name="Shape 18"/>
          <p:cNvSpPr/>
          <p:nvPr/>
        </p:nvSpPr>
        <p:spPr>
          <a:xfrm>
            <a:off x="9144000" y="0"/>
            <a:ext cx="517144" cy="6858000"/>
          </a:xfrm>
          <a:prstGeom prst="rect">
            <a:avLst/>
          </a:prstGeom>
          <a:solidFill>
            <a:srgbClr val="0A2661"/>
          </a:solidFill>
          <a:ln/>
        </p:spPr>
      </p:sp>
      <p:sp>
        <p:nvSpPr>
          <p:cNvPr id="21" name="Shape 19"/>
          <p:cNvSpPr/>
          <p:nvPr/>
        </p:nvSpPr>
        <p:spPr>
          <a:xfrm>
            <a:off x="9652000" y="0"/>
            <a:ext cx="517144" cy="6858000"/>
          </a:xfrm>
          <a:prstGeom prst="rect">
            <a:avLst/>
          </a:prstGeom>
          <a:solidFill>
            <a:srgbClr val="0B255F"/>
          </a:solidFill>
          <a:ln/>
        </p:spPr>
      </p:sp>
      <p:sp>
        <p:nvSpPr>
          <p:cNvPr id="22" name="Shape 20"/>
          <p:cNvSpPr/>
          <p:nvPr/>
        </p:nvSpPr>
        <p:spPr>
          <a:xfrm>
            <a:off x="10160000" y="0"/>
            <a:ext cx="517144" cy="6858000"/>
          </a:xfrm>
          <a:prstGeom prst="rect">
            <a:avLst/>
          </a:prstGeom>
          <a:solidFill>
            <a:srgbClr val="0B245D"/>
          </a:solidFill>
          <a:ln/>
        </p:spPr>
      </p:sp>
      <p:sp>
        <p:nvSpPr>
          <p:cNvPr id="23" name="Shape 21"/>
          <p:cNvSpPr/>
          <p:nvPr/>
        </p:nvSpPr>
        <p:spPr>
          <a:xfrm>
            <a:off x="10668000" y="0"/>
            <a:ext cx="517144" cy="6858000"/>
          </a:xfrm>
          <a:prstGeom prst="rect">
            <a:avLst/>
          </a:prstGeom>
          <a:solidFill>
            <a:srgbClr val="0C235B"/>
          </a:solidFill>
          <a:ln/>
        </p:spPr>
      </p:sp>
      <p:sp>
        <p:nvSpPr>
          <p:cNvPr id="24" name="Shape 22"/>
          <p:cNvSpPr/>
          <p:nvPr/>
        </p:nvSpPr>
        <p:spPr>
          <a:xfrm>
            <a:off x="11176000" y="0"/>
            <a:ext cx="517144" cy="6858000"/>
          </a:xfrm>
          <a:prstGeom prst="rect">
            <a:avLst/>
          </a:prstGeom>
          <a:solidFill>
            <a:srgbClr val="0C2259"/>
          </a:solidFill>
          <a:ln/>
        </p:spPr>
      </p:sp>
      <p:sp>
        <p:nvSpPr>
          <p:cNvPr id="25" name="Shape 23"/>
          <p:cNvSpPr/>
          <p:nvPr/>
        </p:nvSpPr>
        <p:spPr>
          <a:xfrm>
            <a:off x="11684000" y="0"/>
            <a:ext cx="517144" cy="6858000"/>
          </a:xfrm>
          <a:prstGeom prst="rect">
            <a:avLst/>
          </a:prstGeom>
          <a:solidFill>
            <a:srgbClr val="0D2157"/>
          </a:solidFill>
          <a:ln/>
        </p:spPr>
      </p:sp>
      <p:pic>
        <p:nvPicPr>
          <p:cNvPr id="26" name="Image 0" descr="C:\Users\sergiogonro\Documents\dde\unisabana-presentation-system\core\brand\assets\brand-wa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7" name="Text 24"/>
          <p:cNvSpPr/>
          <p:nvPr/>
        </p:nvSpPr>
        <p:spPr>
          <a:xfrm>
            <a:off x="685800" y="1976438"/>
            <a:ext cx="2743200" cy="10515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0" b="1" dirty="0">
                <a:solidFill>
                  <a:srgbClr val="98B1D3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01</a:t>
            </a:r>
            <a:endParaRPr lang="en-US" sz="7200" dirty="0"/>
          </a:p>
        </p:txBody>
      </p:sp>
      <p:sp>
        <p:nvSpPr>
          <p:cNvPr id="28" name="Text 25"/>
          <p:cNvSpPr/>
          <p:nvPr/>
        </p:nvSpPr>
        <p:spPr>
          <a:xfrm>
            <a:off x="685800" y="3214688"/>
            <a:ext cx="8229600" cy="161925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5550" b="1" dirty="0">
                <a:solidFill>
                  <a:srgbClr val="FFFFF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Contexto institucional</a:t>
            </a:r>
            <a:endParaRPr lang="en-US" sz="5550" dirty="0"/>
          </a:p>
        </p:txBody>
      </p:sp>
      <p:sp>
        <p:nvSpPr>
          <p:cNvPr id="29" name="Text 26"/>
          <p:cNvSpPr/>
          <p:nvPr/>
        </p:nvSpPr>
        <p:spPr>
          <a:xfrm>
            <a:off x="685800" y="5024438"/>
            <a:ext cx="7315200" cy="295275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98B1D3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Panorama general 2025</a:t>
            </a:r>
            <a:endParaRPr lang="en-US" sz="1500" dirty="0"/>
          </a:p>
        </p:txBody>
      </p:sp>
      <p:pic>
        <p:nvPicPr>
          <p:cNvPr id="30" name="Image 1" descr="C:\Users\sergiogonro\Documents\dde\unisabana-presentation-system\core\brand\assets\logo-horizontal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533400"/>
            <a:ext cx="1296018" cy="552450"/>
          </a:xfrm>
          <a:prstGeom prst="rect">
            <a:avLst/>
          </a:prstGeom>
        </p:spPr>
      </p:pic>
      <p:sp>
        <p:nvSpPr>
          <p:cNvPr id="31" name="Text 27"/>
          <p:cNvSpPr/>
          <p:nvPr/>
        </p:nvSpPr>
        <p:spPr>
          <a:xfrm>
            <a:off x="9696450" y="6400800"/>
            <a:ext cx="195325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8B1D3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Diseñado con Claude Design</a:t>
            </a:r>
            <a:endParaRPr lang="en-US" sz="1050" dirty="0"/>
          </a:p>
        </p:txBody>
      </p:sp>
      <p:pic>
        <p:nvPicPr>
          <p:cNvPr id="32" name="Image 2" descr="C:\Users\sergiogonro\Documents\dde\unisabana-presentation-system\core\brand\assets\claude-logo.sv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725905" y="6434138"/>
            <a:ext cx="161295" cy="16192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909762"/>
            <a:ext cx="9144000" cy="1228725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4200" b="1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La Universidad fortaleció su posición académica regional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685800" y="3367088"/>
            <a:ext cx="8229600" cy="70485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3C3C3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El crecimiento se sostuvo en investigación, internacionalización y bienestar estudiantil.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85800" y="4300538"/>
            <a:ext cx="10820400" cy="800100"/>
          </a:xfrm>
          <a:prstGeom prst="rect">
            <a:avLst/>
          </a:prstGeom>
          <a:solidFill>
            <a:srgbClr val="0D2157"/>
          </a:solidFill>
          <a:ln/>
        </p:spPr>
      </p:sp>
      <p:sp>
        <p:nvSpPr>
          <p:cNvPr id="5" name="Text 3"/>
          <p:cNvSpPr/>
          <p:nvPr/>
        </p:nvSpPr>
        <p:spPr>
          <a:xfrm>
            <a:off x="960120" y="4428554"/>
            <a:ext cx="10271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PUNTO DE PARTIDA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960120" y="4684586"/>
            <a:ext cx="1027176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Arrancamos el periodo con una brecha de 12 puntos frente a la meta institucional.</a:t>
            </a:r>
            <a:endParaRPr lang="en-US" sz="1400" dirty="0"/>
          </a:p>
        </p:txBody>
      </p:sp>
      <p:pic>
        <p:nvPicPr>
          <p:cNvPr id="7" name="Image 0" descr="C:\Users\sergiogonro\Documents\dde\unisabana-presentation-system\core\brand\assets\logo-horizontal-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33400"/>
            <a:ext cx="804425" cy="3429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696450" y="6400800"/>
            <a:ext cx="195325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17175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Diseñado con Claude Design</a:t>
            </a:r>
            <a:endParaRPr lang="en-US" sz="1050" dirty="0"/>
          </a:p>
        </p:txBody>
      </p:sp>
      <p:pic>
        <p:nvPicPr>
          <p:cNvPr id="9" name="Image 1" descr="C:\Users\sergiogonro\Documents\dde\unisabana-presentation-system\core\brand\assets\claude-logo.sv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725905" y="6434138"/>
            <a:ext cx="161295" cy="16192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257300"/>
            <a:ext cx="10820400" cy="1114425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825" b="1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Los ingresos operacionales crecieron 18% frente a 2024</a:t>
            </a:r>
            <a:endParaRPr lang="en-US" sz="3825" dirty="0"/>
          </a:p>
        </p:txBody>
      </p:sp>
      <p:sp>
        <p:nvSpPr>
          <p:cNvPr id="3" name="Text 1"/>
          <p:cNvSpPr/>
          <p:nvPr/>
        </p:nvSpPr>
        <p:spPr>
          <a:xfrm>
            <a:off x="685800" y="2943225"/>
            <a:ext cx="3403600" cy="745067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18%</a:t>
            </a:r>
            <a:pPr indent="0" marL="0">
              <a:buNone/>
            </a:pPr>
            <a:r>
              <a:rPr lang="en-US" sz="1760" b="1" dirty="0">
                <a:solidFill>
                  <a:srgbClr val="788C31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  ▴ 2.4 pts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85800" y="3734012"/>
            <a:ext cx="340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Crecimiento de ingresos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85800" y="4054052"/>
            <a:ext cx="340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7175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Frente al año anterior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394200" y="2943225"/>
            <a:ext cx="3403600" cy="745067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1,240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4394200" y="3734012"/>
            <a:ext cx="340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Nuevos estudiantes matriculados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102600" y="2943225"/>
            <a:ext cx="1463040" cy="237744"/>
          </a:xfrm>
          <a:prstGeom prst="roundRect">
            <a:avLst>
              <a:gd name="adj" fmla="val 50000"/>
            </a:avLst>
          </a:prstGeom>
          <a:solidFill>
            <a:srgbClr val="FAEAEA"/>
          </a:solidFill>
          <a:ln/>
        </p:spPr>
      </p:sp>
      <p:sp>
        <p:nvSpPr>
          <p:cNvPr id="9" name="Text 7"/>
          <p:cNvSpPr/>
          <p:nvPr/>
        </p:nvSpPr>
        <p:spPr>
          <a:xfrm>
            <a:off x="8102600" y="2943225"/>
            <a:ext cx="1463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30C0C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Requiere atención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8029448" y="3254121"/>
            <a:ext cx="36576" cy="745067"/>
          </a:xfrm>
          <a:prstGeom prst="rect">
            <a:avLst/>
          </a:prstGeom>
          <a:solidFill>
            <a:srgbClr val="CE2929"/>
          </a:solidFill>
          <a:ln/>
        </p:spPr>
      </p:sp>
      <p:sp>
        <p:nvSpPr>
          <p:cNvPr id="11" name="Text 9"/>
          <p:cNvSpPr/>
          <p:nvPr/>
        </p:nvSpPr>
        <p:spPr>
          <a:xfrm>
            <a:off x="8102600" y="3254121"/>
            <a:ext cx="3403600" cy="745067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-4%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8102600" y="4044908"/>
            <a:ext cx="340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Deserción en primer semestre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85800" y="4949825"/>
            <a:ext cx="10820400" cy="800100"/>
          </a:xfrm>
          <a:prstGeom prst="rect">
            <a:avLst/>
          </a:prstGeom>
          <a:solidFill>
            <a:srgbClr val="FAF3DC"/>
          </a:solidFill>
          <a:ln/>
        </p:spPr>
      </p:sp>
      <p:sp>
        <p:nvSpPr>
          <p:cNvPr id="14" name="Shape 12"/>
          <p:cNvSpPr/>
          <p:nvPr/>
        </p:nvSpPr>
        <p:spPr>
          <a:xfrm>
            <a:off x="685800" y="4949825"/>
            <a:ext cx="54864" cy="800100"/>
          </a:xfrm>
          <a:prstGeom prst="rect">
            <a:avLst/>
          </a:prstGeom>
          <a:solidFill>
            <a:srgbClr val="91734A"/>
          </a:solidFill>
          <a:ln/>
        </p:spPr>
      </p:sp>
      <p:pic>
        <p:nvPicPr>
          <p:cNvPr id="15" name="Image 0" descr="C:\Users\sergiogonro\Documents\dde\unisabana-presentation-system\core\brand\assets\icons\triangle-alert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5203571"/>
            <a:ext cx="292608" cy="292608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1463040" y="5077841"/>
            <a:ext cx="9768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1734A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NOTA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1463040" y="5333873"/>
            <a:ext cx="97688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Las cifras de matrícula excluyen programas de posgrado a distancia.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685800" y="5978525"/>
            <a:ext cx="75742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3C3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Avance frente a la meta anual de ingresos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685800" y="5978525"/>
            <a:ext cx="10820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72%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685800" y="6252845"/>
            <a:ext cx="10820400" cy="128016"/>
          </a:xfrm>
          <a:prstGeom prst="roundRect">
            <a:avLst>
              <a:gd name="adj" fmla="val 50000"/>
            </a:avLst>
          </a:prstGeom>
          <a:solidFill>
            <a:srgbClr val="DCE5F3"/>
          </a:solidFill>
          <a:ln/>
        </p:spPr>
      </p:sp>
      <p:sp>
        <p:nvSpPr>
          <p:cNvPr id="21" name="Shape 18"/>
          <p:cNvSpPr/>
          <p:nvPr/>
        </p:nvSpPr>
        <p:spPr>
          <a:xfrm>
            <a:off x="685800" y="6252845"/>
            <a:ext cx="7790688" cy="128016"/>
          </a:xfrm>
          <a:prstGeom prst="roundRect">
            <a:avLst>
              <a:gd name="adj" fmla="val 50000"/>
            </a:avLst>
          </a:prstGeom>
          <a:solidFill>
            <a:srgbClr val="00205B"/>
          </a:solidFill>
          <a:ln/>
        </p:spPr>
      </p:sp>
      <p:sp>
        <p:nvSpPr>
          <p:cNvPr id="22" name="Text 19"/>
          <p:cNvSpPr/>
          <p:nvPr/>
        </p:nvSpPr>
        <p:spPr>
          <a:xfrm>
            <a:off x="685800" y="5867400"/>
            <a:ext cx="108204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717175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Fuente: Vicerrectoría Financiera · 2025</a:t>
            </a:r>
            <a:endParaRPr lang="en-US" sz="1100" dirty="0"/>
          </a:p>
        </p:txBody>
      </p:sp>
      <p:pic>
        <p:nvPicPr>
          <p:cNvPr id="23" name="Image 1" descr="C:\Users\sergiogonro\Documents\dde\unisabana-presentation-system\core\brand\assets\logo-horizontal-colo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533400"/>
            <a:ext cx="804425" cy="342900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9696450" y="6400800"/>
            <a:ext cx="195325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17175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Diseñado con Claude Design</a:t>
            </a:r>
            <a:endParaRPr lang="en-US" sz="1050" dirty="0"/>
          </a:p>
        </p:txBody>
      </p:sp>
      <p:pic>
        <p:nvPicPr>
          <p:cNvPr id="25" name="Image 2" descr="C:\Users\sergiogonro\Documents\dde\unisabana-presentation-system\core\brand\assets\claude-logo.sv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725905" y="6434138"/>
            <a:ext cx="161295" cy="16192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CE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257300"/>
            <a:ext cx="10820400" cy="16764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825" b="1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Ingeniería y Medicina lideraron el crecimiento en proyectos de investigación</a:t>
            </a:r>
            <a:endParaRPr lang="en-US" sz="3825" dirty="0"/>
          </a:p>
        </p:txBody>
      </p:sp>
      <p:sp>
        <p:nvSpPr>
          <p:cNvPr id="3" name="Shape 1"/>
          <p:cNvSpPr/>
          <p:nvPr/>
        </p:nvSpPr>
        <p:spPr>
          <a:xfrm>
            <a:off x="685800" y="3390900"/>
            <a:ext cx="5257800" cy="2438400"/>
          </a:xfrm>
          <a:prstGeom prst="rect">
            <a:avLst/>
          </a:prstGeom>
          <a:solidFill>
            <a:srgbClr val="FFFFFF"/>
          </a:solidFill>
          <a:ln w="9525">
            <a:solidFill>
              <a:srgbClr val="C2C3C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3390900"/>
            <a:ext cx="54864" cy="2438400"/>
          </a:xfrm>
          <a:prstGeom prst="rect">
            <a:avLst/>
          </a:prstGeom>
          <a:solidFill>
            <a:srgbClr val="00205B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3573780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Facultad de Ingeniería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434840" y="3573780"/>
            <a:ext cx="1280160" cy="237744"/>
          </a:xfrm>
          <a:prstGeom prst="roundRect">
            <a:avLst>
              <a:gd name="adj" fmla="val 50000"/>
            </a:avLst>
          </a:prstGeom>
          <a:solidFill>
            <a:srgbClr val="C2C3C8"/>
          </a:solidFill>
          <a:ln/>
        </p:spPr>
      </p:sp>
      <p:sp>
        <p:nvSpPr>
          <p:cNvPr id="7" name="Text 5"/>
          <p:cNvSpPr/>
          <p:nvPr/>
        </p:nvSpPr>
        <p:spPr>
          <a:xfrm>
            <a:off x="4434840" y="3573780"/>
            <a:ext cx="1280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C3C3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Líder en crecimiento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14400" y="4076700"/>
            <a:ext cx="2263140" cy="4064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32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914400" y="4528820"/>
            <a:ext cx="22631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Proyectos activos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314700" y="4076700"/>
            <a:ext cx="2263140" cy="4064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12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314700" y="4528820"/>
            <a:ext cx="22631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Publicaciones indexadas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3314700" y="4076700"/>
            <a:ext cx="914" cy="548640"/>
          </a:xfrm>
          <a:prstGeom prst="line">
            <a:avLst/>
          </a:prstGeom>
          <a:noFill/>
          <a:ln w="9525">
            <a:solidFill>
              <a:srgbClr val="C2C3C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4853940"/>
            <a:ext cx="4800600" cy="838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3C3C3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32 proyectos activos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3C3C3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12 publicaciones indexadas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48400" y="3390900"/>
            <a:ext cx="5257800" cy="2438400"/>
          </a:xfrm>
          <a:prstGeom prst="rect">
            <a:avLst/>
          </a:prstGeom>
          <a:solidFill>
            <a:srgbClr val="FFFFFF"/>
          </a:solidFill>
          <a:ln w="9525">
            <a:solidFill>
              <a:srgbClr val="C2C3C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48400" y="3390900"/>
            <a:ext cx="54864" cy="2438400"/>
          </a:xfrm>
          <a:prstGeom prst="rect">
            <a:avLst/>
          </a:prstGeom>
          <a:solidFill>
            <a:srgbClr val="CE2929"/>
          </a:solidFill>
          <a:ln/>
        </p:spPr>
      </p:sp>
      <p:sp>
        <p:nvSpPr>
          <p:cNvPr id="16" name="Text 14"/>
          <p:cNvSpPr/>
          <p:nvPr/>
        </p:nvSpPr>
        <p:spPr>
          <a:xfrm>
            <a:off x="6477000" y="3573780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Facultad de Medicina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9997440" y="3573780"/>
            <a:ext cx="1280160" cy="237744"/>
          </a:xfrm>
          <a:prstGeom prst="roundRect">
            <a:avLst>
              <a:gd name="adj" fmla="val 50000"/>
            </a:avLst>
          </a:prstGeom>
          <a:solidFill>
            <a:srgbClr val="FAEAEA"/>
          </a:solidFill>
          <a:ln/>
        </p:spPr>
      </p:sp>
      <p:sp>
        <p:nvSpPr>
          <p:cNvPr id="18" name="Text 16"/>
          <p:cNvSpPr/>
          <p:nvPr/>
        </p:nvSpPr>
        <p:spPr>
          <a:xfrm>
            <a:off x="9997440" y="3573780"/>
            <a:ext cx="1280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30C0C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Publicaciones bajo la meta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477000" y="4076700"/>
            <a:ext cx="2263140" cy="4064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28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6477000" y="4528820"/>
            <a:ext cx="22631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Proyectos activos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877300" y="4076700"/>
            <a:ext cx="2263140" cy="4064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19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8877300" y="4528820"/>
            <a:ext cx="22631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Publicaciones indexadas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8877300" y="4076700"/>
            <a:ext cx="914" cy="548640"/>
          </a:xfrm>
          <a:prstGeom prst="line">
            <a:avLst/>
          </a:prstGeom>
          <a:noFill/>
          <a:ln w="9525">
            <a:solidFill>
              <a:srgbClr val="C2C3C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77000" y="4853940"/>
            <a:ext cx="4800600" cy="838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3C3C3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28 proyectos activos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3C3C3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19 publicaciones indexadas</a:t>
            </a:r>
            <a:endParaRPr lang="en-US" sz="1200" dirty="0"/>
          </a:p>
        </p:txBody>
      </p:sp>
      <p:pic>
        <p:nvPicPr>
          <p:cNvPr id="25" name="Image 0" descr="C:\Users\sergiogonro\Documents\dde\unisabana-presentation-system\core\brand\assets\logo-horizontal-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33400"/>
            <a:ext cx="804425" cy="342900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9696450" y="6400800"/>
            <a:ext cx="195325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17175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Diseñado con Claude Design</a:t>
            </a:r>
            <a:endParaRPr lang="en-US" sz="1050" dirty="0"/>
          </a:p>
        </p:txBody>
      </p:sp>
      <p:pic>
        <p:nvPicPr>
          <p:cNvPr id="27" name="Image 1" descr="C:\Users\sergiogonro\Documents\dde\unisabana-presentation-system\core\brand\assets\claude-logo.sv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725905" y="6434138"/>
            <a:ext cx="161295" cy="16192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457325"/>
            <a:ext cx="10820400" cy="1114425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825" b="1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El proceso de acreditación avanzó en cuatro etapas</a:t>
            </a:r>
            <a:endParaRPr lang="en-US" sz="3825" dirty="0"/>
          </a:p>
        </p:txBody>
      </p:sp>
      <p:sp>
        <p:nvSpPr>
          <p:cNvPr id="3" name="Shape 1"/>
          <p:cNvSpPr/>
          <p:nvPr/>
        </p:nvSpPr>
        <p:spPr>
          <a:xfrm>
            <a:off x="2038350" y="3400806"/>
            <a:ext cx="8115300" cy="18288"/>
          </a:xfrm>
          <a:prstGeom prst="rect">
            <a:avLst/>
          </a:prstGeom>
          <a:solidFill>
            <a:srgbClr val="C2C3C8"/>
          </a:solidFill>
          <a:ln/>
        </p:spPr>
      </p:sp>
      <p:sp>
        <p:nvSpPr>
          <p:cNvPr id="4" name="Shape 2"/>
          <p:cNvSpPr/>
          <p:nvPr/>
        </p:nvSpPr>
        <p:spPr>
          <a:xfrm>
            <a:off x="1809750" y="3181350"/>
            <a:ext cx="457200" cy="457200"/>
          </a:xfrm>
          <a:prstGeom prst="ellipse">
            <a:avLst/>
          </a:prstGeom>
          <a:solidFill>
            <a:srgbClr val="00205B"/>
          </a:solidFill>
          <a:ln/>
        </p:spPr>
      </p:sp>
      <p:sp>
        <p:nvSpPr>
          <p:cNvPr id="5" name="Text 3"/>
          <p:cNvSpPr/>
          <p:nvPr/>
        </p:nvSpPr>
        <p:spPr>
          <a:xfrm>
            <a:off x="1809750" y="318135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85800" y="3790950"/>
            <a:ext cx="2590800" cy="4286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Autoevaluación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Recolección de evidencia por programa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14850" y="3181350"/>
            <a:ext cx="457200" cy="457200"/>
          </a:xfrm>
          <a:prstGeom prst="ellipse">
            <a:avLst/>
          </a:prstGeom>
          <a:solidFill>
            <a:srgbClr val="00205B"/>
          </a:solidFill>
          <a:ln/>
        </p:spPr>
      </p:sp>
      <p:sp>
        <p:nvSpPr>
          <p:cNvPr id="8" name="Text 6"/>
          <p:cNvSpPr/>
          <p:nvPr/>
        </p:nvSpPr>
        <p:spPr>
          <a:xfrm>
            <a:off x="4514850" y="318135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390900" y="3790950"/>
            <a:ext cx="2590800" cy="4286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Revisión por pares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219950" y="3181350"/>
            <a:ext cx="457200" cy="457200"/>
          </a:xfrm>
          <a:prstGeom prst="ellipse">
            <a:avLst/>
          </a:prstGeom>
          <a:solidFill>
            <a:srgbClr val="00205B"/>
          </a:solidFill>
          <a:ln/>
        </p:spPr>
      </p:sp>
      <p:sp>
        <p:nvSpPr>
          <p:cNvPr id="11" name="Text 9"/>
          <p:cNvSpPr/>
          <p:nvPr/>
        </p:nvSpPr>
        <p:spPr>
          <a:xfrm>
            <a:off x="7219950" y="318135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3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096000" y="3790950"/>
            <a:ext cx="2590800" cy="4286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Informe final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925050" y="3181350"/>
            <a:ext cx="457200" cy="457200"/>
          </a:xfrm>
          <a:prstGeom prst="ellipse">
            <a:avLst/>
          </a:prstGeom>
          <a:solidFill>
            <a:srgbClr val="00205B"/>
          </a:solidFill>
          <a:ln/>
        </p:spPr>
      </p:sp>
      <p:sp>
        <p:nvSpPr>
          <p:cNvPr id="14" name="Text 12"/>
          <p:cNvSpPr/>
          <p:nvPr/>
        </p:nvSpPr>
        <p:spPr>
          <a:xfrm>
            <a:off x="9925050" y="318135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4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801100" y="3790950"/>
            <a:ext cx="2590800" cy="4286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Visita de verificación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85800" y="4524375"/>
            <a:ext cx="10820400" cy="800100"/>
          </a:xfrm>
          <a:prstGeom prst="rect">
            <a:avLst/>
          </a:prstGeom>
          <a:solidFill>
            <a:srgbClr val="DCE5F3"/>
          </a:solidFill>
          <a:ln/>
        </p:spPr>
      </p:sp>
      <p:sp>
        <p:nvSpPr>
          <p:cNvPr id="17" name="Text 15"/>
          <p:cNvSpPr/>
          <p:nvPr/>
        </p:nvSpPr>
        <p:spPr>
          <a:xfrm>
            <a:off x="960120" y="4764405"/>
            <a:ext cx="1027176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La visita de verificación concentra el 40% del esfuerzo total del proceso.</a:t>
            </a:r>
            <a:endParaRPr lang="en-US" sz="1400" dirty="0"/>
          </a:p>
        </p:txBody>
      </p:sp>
      <p:pic>
        <p:nvPicPr>
          <p:cNvPr id="18" name="Image 0" descr="C:\Users\sergiogonro\Documents\dde\unisabana-presentation-system\core\brand\assets\logo-horizontal-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33400"/>
            <a:ext cx="804425" cy="342900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9696450" y="6400800"/>
            <a:ext cx="195325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17175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Diseñado con Claude Design</a:t>
            </a:r>
            <a:endParaRPr lang="en-US" sz="1050" dirty="0"/>
          </a:p>
        </p:txBody>
      </p:sp>
      <p:pic>
        <p:nvPicPr>
          <p:cNvPr id="20" name="Image 1" descr="C:\Users\sergiogonro\Documents\dde\unisabana-presentation-system\core\brand\assets\claude-logo.sv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725905" y="6434138"/>
            <a:ext cx="161295" cy="16192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257300"/>
            <a:ext cx="10820400" cy="1114425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825" b="1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Fases del proceso de acreditación (variante alternada)</a:t>
            </a:r>
            <a:endParaRPr lang="en-US" sz="3825" dirty="0"/>
          </a:p>
        </p:txBody>
      </p:sp>
      <p:sp>
        <p:nvSpPr>
          <p:cNvPr id="3" name="Shape 1"/>
          <p:cNvSpPr/>
          <p:nvPr/>
        </p:nvSpPr>
        <p:spPr>
          <a:xfrm>
            <a:off x="2038350" y="4477131"/>
            <a:ext cx="8115300" cy="18288"/>
          </a:xfrm>
          <a:prstGeom prst="rect">
            <a:avLst/>
          </a:prstGeom>
          <a:solidFill>
            <a:srgbClr val="C2C3C8"/>
          </a:solidFill>
          <a:ln/>
        </p:spPr>
      </p:sp>
      <p:sp>
        <p:nvSpPr>
          <p:cNvPr id="4" name="Shape 2"/>
          <p:cNvSpPr/>
          <p:nvPr/>
        </p:nvSpPr>
        <p:spPr>
          <a:xfrm>
            <a:off x="1992630" y="4440555"/>
            <a:ext cx="91440" cy="91440"/>
          </a:xfrm>
          <a:prstGeom prst="ellipse">
            <a:avLst/>
          </a:prstGeom>
          <a:solidFill>
            <a:srgbClr val="00205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0100" y="2905125"/>
            <a:ext cx="2476500" cy="1314450"/>
          </a:xfrm>
          <a:prstGeom prst="rect">
            <a:avLst/>
          </a:prstGeom>
          <a:solidFill>
            <a:srgbClr val="FFFFFF"/>
          </a:solidFill>
          <a:ln w="9525">
            <a:solidFill>
              <a:srgbClr val="C2C3C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33450" y="3038475"/>
            <a:ext cx="381000" cy="381000"/>
          </a:xfrm>
          <a:prstGeom prst="roundRect">
            <a:avLst>
              <a:gd name="adj" fmla="val 14400"/>
            </a:avLst>
          </a:prstGeom>
          <a:solidFill>
            <a:srgbClr val="00205B"/>
          </a:solidFill>
          <a:ln/>
        </p:spPr>
      </p:sp>
      <p:pic>
        <p:nvPicPr>
          <p:cNvPr id="7" name="Image 0" descr="C:\Users\sergiogonro\Documents\dde\unisabana-presentation-system\core\brand\assets\icons\file-text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5360" y="3080385"/>
            <a:ext cx="297180" cy="2971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33450" y="3474339"/>
            <a:ext cx="2209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D2157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HITO 1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933450" y="3675507"/>
            <a:ext cx="2209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Autoevaluación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933450" y="3968115"/>
            <a:ext cx="220980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7175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Recolección de evidencia por programa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697730" y="4440555"/>
            <a:ext cx="91440" cy="91440"/>
          </a:xfrm>
          <a:prstGeom prst="ellipse">
            <a:avLst/>
          </a:prstGeom>
          <a:solidFill>
            <a:srgbClr val="00205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505200" y="4752975"/>
            <a:ext cx="2476500" cy="1314450"/>
          </a:xfrm>
          <a:prstGeom prst="rect">
            <a:avLst/>
          </a:prstGeom>
          <a:solidFill>
            <a:srgbClr val="FFFFFF"/>
          </a:solidFill>
          <a:ln w="9525">
            <a:solidFill>
              <a:srgbClr val="C2C3C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638550" y="4886325"/>
            <a:ext cx="381000" cy="381000"/>
          </a:xfrm>
          <a:prstGeom prst="roundRect">
            <a:avLst>
              <a:gd name="adj" fmla="val 14400"/>
            </a:avLst>
          </a:prstGeom>
          <a:solidFill>
            <a:srgbClr val="00205B"/>
          </a:solidFill>
          <a:ln/>
        </p:spPr>
      </p:sp>
      <p:pic>
        <p:nvPicPr>
          <p:cNvPr id="14" name="Image 1" descr="C:\Users\sergiogonro\Documents\dde\unisabana-presentation-system\core\brand\assets\icons\users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0460" y="4928235"/>
            <a:ext cx="297180" cy="29718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3638550" y="5322189"/>
            <a:ext cx="2209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D2157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HITO 2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3638550" y="5523357"/>
            <a:ext cx="2209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Revisión por pares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3638550" y="5815965"/>
            <a:ext cx="220980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7175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Visita de pares académicos externos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4240530" y="4175379"/>
            <a:ext cx="1005840" cy="201168"/>
          </a:xfrm>
          <a:prstGeom prst="roundRect">
            <a:avLst>
              <a:gd name="adj" fmla="val 50000"/>
            </a:avLst>
          </a:prstGeom>
          <a:solidFill>
            <a:srgbClr val="91734A"/>
          </a:solidFill>
          <a:ln/>
        </p:spPr>
      </p:sp>
      <p:sp>
        <p:nvSpPr>
          <p:cNvPr id="19" name="Text 15"/>
          <p:cNvSpPr/>
          <p:nvPr/>
        </p:nvSpPr>
        <p:spPr>
          <a:xfrm>
            <a:off x="4240530" y="4175379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Estamos aquí</a:t>
            </a:r>
            <a:endParaRPr lang="en-US" sz="800" dirty="0"/>
          </a:p>
        </p:txBody>
      </p:sp>
      <p:sp>
        <p:nvSpPr>
          <p:cNvPr id="20" name="Shape 16"/>
          <p:cNvSpPr/>
          <p:nvPr/>
        </p:nvSpPr>
        <p:spPr>
          <a:xfrm>
            <a:off x="4679442" y="4422267"/>
            <a:ext cx="128016" cy="128016"/>
          </a:xfrm>
          <a:prstGeom prst="ellipse">
            <a:avLst/>
          </a:prstGeom>
          <a:solidFill>
            <a:srgbClr val="91734A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7402830" y="4440555"/>
            <a:ext cx="91440" cy="91440"/>
          </a:xfrm>
          <a:prstGeom prst="ellipse">
            <a:avLst/>
          </a:prstGeom>
          <a:solidFill>
            <a:srgbClr val="00205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210300" y="2905125"/>
            <a:ext cx="2476500" cy="1314450"/>
          </a:xfrm>
          <a:prstGeom prst="rect">
            <a:avLst/>
          </a:prstGeom>
          <a:solidFill>
            <a:srgbClr val="FFFFFF"/>
          </a:solidFill>
          <a:ln w="9525">
            <a:solidFill>
              <a:srgbClr val="C2C3C8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6343650" y="3038475"/>
            <a:ext cx="381000" cy="381000"/>
          </a:xfrm>
          <a:prstGeom prst="roundRect">
            <a:avLst>
              <a:gd name="adj" fmla="val 14400"/>
            </a:avLst>
          </a:prstGeom>
          <a:solidFill>
            <a:srgbClr val="00205B"/>
          </a:solidFill>
          <a:ln/>
        </p:spPr>
      </p:sp>
      <p:pic>
        <p:nvPicPr>
          <p:cNvPr id="24" name="Image 2" descr="C:\Users\sergiogonro\Documents\dde\unisabana-presentation-system\core\brand\assets\icons\check-ligh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5560" y="3080385"/>
            <a:ext cx="297180" cy="297180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6343650" y="3474339"/>
            <a:ext cx="2209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D2157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HITO 3</a:t>
            </a:r>
            <a:endParaRPr lang="en-US" sz="900" dirty="0"/>
          </a:p>
        </p:txBody>
      </p:sp>
      <p:sp>
        <p:nvSpPr>
          <p:cNvPr id="26" name="Text 21"/>
          <p:cNvSpPr/>
          <p:nvPr/>
        </p:nvSpPr>
        <p:spPr>
          <a:xfrm>
            <a:off x="6343650" y="3675507"/>
            <a:ext cx="2209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Informe final</a:t>
            </a:r>
            <a:endParaRPr lang="en-US" sz="1300" dirty="0"/>
          </a:p>
        </p:txBody>
      </p:sp>
      <p:sp>
        <p:nvSpPr>
          <p:cNvPr id="27" name="Text 22"/>
          <p:cNvSpPr/>
          <p:nvPr/>
        </p:nvSpPr>
        <p:spPr>
          <a:xfrm>
            <a:off x="6343650" y="3968115"/>
            <a:ext cx="220980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7175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Consolidación de hallazgos</a:t>
            </a:r>
            <a:endParaRPr lang="en-US" sz="1100" dirty="0"/>
          </a:p>
        </p:txBody>
      </p:sp>
      <p:sp>
        <p:nvSpPr>
          <p:cNvPr id="28" name="Shape 23"/>
          <p:cNvSpPr/>
          <p:nvPr/>
        </p:nvSpPr>
        <p:spPr>
          <a:xfrm>
            <a:off x="10107930" y="4440555"/>
            <a:ext cx="91440" cy="91440"/>
          </a:xfrm>
          <a:prstGeom prst="ellipse">
            <a:avLst/>
          </a:prstGeom>
          <a:solidFill>
            <a:srgbClr val="00205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8915400" y="4752975"/>
            <a:ext cx="2476500" cy="1314450"/>
          </a:xfrm>
          <a:prstGeom prst="rect">
            <a:avLst/>
          </a:prstGeom>
          <a:solidFill>
            <a:srgbClr val="FFFFFF"/>
          </a:solidFill>
          <a:ln w="9525">
            <a:solidFill>
              <a:srgbClr val="C2C3C8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9048750" y="4886325"/>
            <a:ext cx="381000" cy="381000"/>
          </a:xfrm>
          <a:prstGeom prst="roundRect">
            <a:avLst>
              <a:gd name="adj" fmla="val 14400"/>
            </a:avLst>
          </a:prstGeom>
          <a:solidFill>
            <a:srgbClr val="00205B"/>
          </a:solidFill>
          <a:ln/>
        </p:spPr>
      </p:sp>
      <p:pic>
        <p:nvPicPr>
          <p:cNvPr id="31" name="Image 3" descr="C:\Users\sergiogonro\Documents\dde\unisabana-presentation-system\core\brand\assets\icons\calendar-ligh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90660" y="4928235"/>
            <a:ext cx="297180" cy="297180"/>
          </a:xfrm>
          <a:prstGeom prst="rect">
            <a:avLst/>
          </a:prstGeom>
        </p:spPr>
      </p:pic>
      <p:sp>
        <p:nvSpPr>
          <p:cNvPr id="32" name="Text 26"/>
          <p:cNvSpPr/>
          <p:nvPr/>
        </p:nvSpPr>
        <p:spPr>
          <a:xfrm>
            <a:off x="9048750" y="5322189"/>
            <a:ext cx="2209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D2157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HITO 4</a:t>
            </a:r>
            <a:endParaRPr lang="en-US" sz="900" dirty="0"/>
          </a:p>
        </p:txBody>
      </p:sp>
      <p:sp>
        <p:nvSpPr>
          <p:cNvPr id="33" name="Text 27"/>
          <p:cNvSpPr/>
          <p:nvPr/>
        </p:nvSpPr>
        <p:spPr>
          <a:xfrm>
            <a:off x="9048750" y="5523357"/>
            <a:ext cx="2209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Visita de verificación</a:t>
            </a:r>
            <a:endParaRPr lang="en-US" sz="1300" dirty="0"/>
          </a:p>
        </p:txBody>
      </p:sp>
      <p:sp>
        <p:nvSpPr>
          <p:cNvPr id="34" name="Text 28"/>
          <p:cNvSpPr/>
          <p:nvPr/>
        </p:nvSpPr>
        <p:spPr>
          <a:xfrm>
            <a:off x="9048750" y="5815965"/>
            <a:ext cx="220980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7175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Confirmación institucional</a:t>
            </a:r>
            <a:endParaRPr lang="en-US" sz="1100" dirty="0"/>
          </a:p>
        </p:txBody>
      </p:sp>
      <p:pic>
        <p:nvPicPr>
          <p:cNvPr id="35" name="Image 4" descr="C:\Users\sergiogonro\Documents\dde\unisabana-presentation-system\core\brand\assets\logo-horizontal-colo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533400"/>
            <a:ext cx="804425" cy="342900"/>
          </a:xfrm>
          <a:prstGeom prst="rect">
            <a:avLst/>
          </a:prstGeom>
        </p:spPr>
      </p:pic>
      <p:sp>
        <p:nvSpPr>
          <p:cNvPr id="36" name="Text 29"/>
          <p:cNvSpPr/>
          <p:nvPr/>
        </p:nvSpPr>
        <p:spPr>
          <a:xfrm>
            <a:off x="9696450" y="6400800"/>
            <a:ext cx="195325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17175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Diseñado con Claude Design</a:t>
            </a:r>
            <a:endParaRPr lang="en-US" sz="1050" dirty="0"/>
          </a:p>
        </p:txBody>
      </p:sp>
      <p:pic>
        <p:nvPicPr>
          <p:cNvPr id="37" name="Image 5" descr="C:\Users\sergiogonro\Documents\dde\unisabana-presentation-system\core\brand\assets\claude-logo.svg">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1725905" y="6434138"/>
            <a:ext cx="161295" cy="16192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257300"/>
            <a:ext cx="10820400" cy="561975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825" b="1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Cronograma del proceso de acreditación</a:t>
            </a:r>
            <a:endParaRPr lang="en-US" sz="3825" dirty="0"/>
          </a:p>
        </p:txBody>
      </p:sp>
      <p:sp>
        <p:nvSpPr>
          <p:cNvPr id="3" name="Text 1"/>
          <p:cNvSpPr/>
          <p:nvPr/>
        </p:nvSpPr>
        <p:spPr>
          <a:xfrm>
            <a:off x="685800" y="2581275"/>
            <a:ext cx="1657350" cy="4381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Autoevaluación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2905125" y="2686050"/>
            <a:ext cx="2478454" cy="228600"/>
          </a:xfrm>
          <a:prstGeom prst="rect">
            <a:avLst/>
          </a:prstGeom>
          <a:solidFill>
            <a:srgbClr val="00205B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3019425"/>
            <a:ext cx="1657350" cy="4381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Revisión por pares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383579" y="3124200"/>
            <a:ext cx="2562469" cy="228600"/>
          </a:xfrm>
          <a:prstGeom prst="rect">
            <a:avLst/>
          </a:prstGeom>
          <a:solidFill>
            <a:srgbClr val="00205B">
              <a:alpha val="68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3457575"/>
            <a:ext cx="1657350" cy="4381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Informe final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946048" y="3562350"/>
            <a:ext cx="1302238" cy="228600"/>
          </a:xfrm>
          <a:prstGeom prst="rect">
            <a:avLst/>
          </a:prstGeom>
          <a:solidFill>
            <a:srgbClr val="00205B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3895725"/>
            <a:ext cx="1657350" cy="4381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Visita de verificación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836394" y="4000500"/>
            <a:ext cx="1260231" cy="228600"/>
          </a:xfrm>
          <a:prstGeom prst="rect">
            <a:avLst/>
          </a:prstGeom>
          <a:solidFill>
            <a:srgbClr val="00205B">
              <a:alpha val="68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495550" y="4333875"/>
            <a:ext cx="9010650" cy="18288"/>
          </a:xfrm>
          <a:prstGeom prst="rect">
            <a:avLst/>
          </a:prstGeom>
          <a:solidFill>
            <a:srgbClr val="C2C3C8"/>
          </a:solidFill>
          <a:ln/>
        </p:spPr>
      </p:sp>
      <p:sp>
        <p:nvSpPr>
          <p:cNvPr id="12" name="Shape 10"/>
          <p:cNvSpPr/>
          <p:nvPr/>
        </p:nvSpPr>
        <p:spPr>
          <a:xfrm>
            <a:off x="2486406" y="4333875"/>
            <a:ext cx="18288" cy="76200"/>
          </a:xfrm>
          <a:prstGeom prst="rect">
            <a:avLst/>
          </a:prstGeom>
          <a:solidFill>
            <a:srgbClr val="C2C3C8"/>
          </a:solidFill>
          <a:ln/>
        </p:spPr>
      </p:sp>
      <p:sp>
        <p:nvSpPr>
          <p:cNvPr id="13" name="Text 11"/>
          <p:cNvSpPr/>
          <p:nvPr/>
        </p:nvSpPr>
        <p:spPr>
          <a:xfrm>
            <a:off x="2114550" y="4448175"/>
            <a:ext cx="762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17175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dic 2025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39069" y="4333875"/>
            <a:ext cx="18288" cy="76200"/>
          </a:xfrm>
          <a:prstGeom prst="rect">
            <a:avLst/>
          </a:prstGeom>
          <a:solidFill>
            <a:srgbClr val="C2C3C8"/>
          </a:solidFill>
          <a:ln/>
        </p:spPr>
      </p:sp>
      <p:sp>
        <p:nvSpPr>
          <p:cNvPr id="15" name="Text 13"/>
          <p:cNvSpPr/>
          <p:nvPr/>
        </p:nvSpPr>
        <p:spPr>
          <a:xfrm>
            <a:off x="4367212" y="4448175"/>
            <a:ext cx="762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17175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feb 2026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991731" y="4333875"/>
            <a:ext cx="18288" cy="76200"/>
          </a:xfrm>
          <a:prstGeom prst="rect">
            <a:avLst/>
          </a:prstGeom>
          <a:solidFill>
            <a:srgbClr val="C2C3C8"/>
          </a:solidFill>
          <a:ln/>
        </p:spPr>
      </p:sp>
      <p:sp>
        <p:nvSpPr>
          <p:cNvPr id="17" name="Text 15"/>
          <p:cNvSpPr/>
          <p:nvPr/>
        </p:nvSpPr>
        <p:spPr>
          <a:xfrm>
            <a:off x="6619875" y="4448175"/>
            <a:ext cx="762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17175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abr 2026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9244394" y="4333875"/>
            <a:ext cx="18288" cy="76200"/>
          </a:xfrm>
          <a:prstGeom prst="rect">
            <a:avLst/>
          </a:prstGeom>
          <a:solidFill>
            <a:srgbClr val="C2C3C8"/>
          </a:solidFill>
          <a:ln/>
        </p:spPr>
      </p:sp>
      <p:sp>
        <p:nvSpPr>
          <p:cNvPr id="19" name="Text 17"/>
          <p:cNvSpPr/>
          <p:nvPr/>
        </p:nvSpPr>
        <p:spPr>
          <a:xfrm>
            <a:off x="8872538" y="4448175"/>
            <a:ext cx="762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17175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jun 2026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11497056" y="4333875"/>
            <a:ext cx="18288" cy="76200"/>
          </a:xfrm>
          <a:prstGeom prst="rect">
            <a:avLst/>
          </a:prstGeom>
          <a:solidFill>
            <a:srgbClr val="C2C3C8"/>
          </a:solidFill>
          <a:ln/>
        </p:spPr>
      </p:sp>
      <p:sp>
        <p:nvSpPr>
          <p:cNvPr id="21" name="Text 19"/>
          <p:cNvSpPr/>
          <p:nvPr/>
        </p:nvSpPr>
        <p:spPr>
          <a:xfrm>
            <a:off x="11125200" y="4448175"/>
            <a:ext cx="762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17175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jul 2026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6685817" y="2581275"/>
            <a:ext cx="914" cy="1752600"/>
          </a:xfrm>
          <a:prstGeom prst="line">
            <a:avLst/>
          </a:prstGeom>
          <a:noFill/>
          <a:ln w="15875">
            <a:solidFill>
              <a:srgbClr val="91734A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6621809" y="2517267"/>
            <a:ext cx="128016" cy="128016"/>
          </a:xfrm>
          <a:prstGeom prst="ellipse">
            <a:avLst/>
          </a:prstGeom>
          <a:solidFill>
            <a:srgbClr val="91734A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05757" y="2200275"/>
            <a:ext cx="960120" cy="182880"/>
          </a:xfrm>
          <a:prstGeom prst="roundRect">
            <a:avLst>
              <a:gd name="adj" fmla="val 50000"/>
            </a:avLst>
          </a:prstGeom>
          <a:solidFill>
            <a:srgbClr val="91734A"/>
          </a:solidFill>
          <a:ln/>
        </p:spPr>
      </p:sp>
      <p:sp>
        <p:nvSpPr>
          <p:cNvPr id="25" name="Text 23"/>
          <p:cNvSpPr/>
          <p:nvPr/>
        </p:nvSpPr>
        <p:spPr>
          <a:xfrm>
            <a:off x="6205757" y="2200275"/>
            <a:ext cx="9601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Estamos aquí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3027436" y="4638675"/>
            <a:ext cx="91440" cy="91440"/>
          </a:xfrm>
          <a:prstGeom prst="ellipse">
            <a:avLst/>
          </a:prstGeom>
          <a:solidFill>
            <a:srgbClr val="0D2157"/>
          </a:solidFill>
          <a:ln/>
        </p:spPr>
      </p:sp>
      <p:sp>
        <p:nvSpPr>
          <p:cNvPr id="27" name="Text 25"/>
          <p:cNvSpPr/>
          <p:nvPr/>
        </p:nvSpPr>
        <p:spPr>
          <a:xfrm>
            <a:off x="2501656" y="4772025"/>
            <a:ext cx="1143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17175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Kickoff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717175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ene 2026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7228205" y="4638675"/>
            <a:ext cx="91440" cy="91440"/>
          </a:xfrm>
          <a:prstGeom prst="ellipse">
            <a:avLst/>
          </a:prstGeom>
          <a:solidFill>
            <a:srgbClr val="0D2157"/>
          </a:solidFill>
          <a:ln/>
        </p:spPr>
      </p:sp>
      <p:sp>
        <p:nvSpPr>
          <p:cNvPr id="29" name="Text 27"/>
          <p:cNvSpPr/>
          <p:nvPr/>
        </p:nvSpPr>
        <p:spPr>
          <a:xfrm>
            <a:off x="6702425" y="4772025"/>
            <a:ext cx="1143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17175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Entrega parcial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717175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abr 2026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85800" y="5362575"/>
            <a:ext cx="10820400" cy="800100"/>
          </a:xfrm>
          <a:prstGeom prst="rect">
            <a:avLst/>
          </a:prstGeom>
          <a:solidFill>
            <a:srgbClr val="FAF3DC"/>
          </a:solidFill>
          <a:ln/>
        </p:spPr>
      </p:sp>
      <p:sp>
        <p:nvSpPr>
          <p:cNvPr id="31" name="Shape 29"/>
          <p:cNvSpPr/>
          <p:nvPr/>
        </p:nvSpPr>
        <p:spPr>
          <a:xfrm>
            <a:off x="685800" y="5362575"/>
            <a:ext cx="54864" cy="800100"/>
          </a:xfrm>
          <a:prstGeom prst="rect">
            <a:avLst/>
          </a:prstGeom>
          <a:solidFill>
            <a:srgbClr val="91734A"/>
          </a:solidFill>
          <a:ln/>
        </p:spPr>
      </p:sp>
      <p:pic>
        <p:nvPicPr>
          <p:cNvPr id="32" name="Image 0" descr="C:\Users\sergiogonro\Documents\dde\unisabana-presentation-system\core\brand\assets\icons\triangle-alert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5616321"/>
            <a:ext cx="292608" cy="292608"/>
          </a:xfrm>
          <a:prstGeom prst="rect">
            <a:avLst/>
          </a:prstGeom>
        </p:spPr>
      </p:pic>
      <p:sp>
        <p:nvSpPr>
          <p:cNvPr id="33" name="Text 30"/>
          <p:cNvSpPr/>
          <p:nvPr/>
        </p:nvSpPr>
        <p:spPr>
          <a:xfrm>
            <a:off x="1463040" y="5490591"/>
            <a:ext cx="9768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1734A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NOTA</a:t>
            </a:r>
            <a:endParaRPr lang="en-US" sz="1000" dirty="0"/>
          </a:p>
        </p:txBody>
      </p:sp>
      <p:sp>
        <p:nvSpPr>
          <p:cNvPr id="34" name="Text 31"/>
          <p:cNvSpPr/>
          <p:nvPr/>
        </p:nvSpPr>
        <p:spPr>
          <a:xfrm>
            <a:off x="1463040" y="5746623"/>
            <a:ext cx="97688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La visita de verificación depende de la disponibilidad del par externo.</a:t>
            </a:r>
            <a:endParaRPr lang="en-US" sz="1400" dirty="0"/>
          </a:p>
        </p:txBody>
      </p:sp>
      <p:pic>
        <p:nvPicPr>
          <p:cNvPr id="35" name="Image 1" descr="C:\Users\sergiogonro\Documents\dde\unisabana-presentation-system\core\brand\assets\logo-horizontal-colo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533400"/>
            <a:ext cx="804425" cy="342900"/>
          </a:xfrm>
          <a:prstGeom prst="rect">
            <a:avLst/>
          </a:prstGeom>
        </p:spPr>
      </p:pic>
      <p:sp>
        <p:nvSpPr>
          <p:cNvPr id="36" name="Text 32"/>
          <p:cNvSpPr/>
          <p:nvPr/>
        </p:nvSpPr>
        <p:spPr>
          <a:xfrm>
            <a:off x="9696450" y="6400800"/>
            <a:ext cx="195325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17175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Diseñado con Claude Design</a:t>
            </a:r>
            <a:endParaRPr lang="en-US" sz="1050" dirty="0"/>
          </a:p>
        </p:txBody>
      </p:sp>
      <p:pic>
        <p:nvPicPr>
          <p:cNvPr id="37" name="Image 2" descr="C:\Users\sergiogonro\Documents\dde\unisabana-presentation-system\core\brand\assets\claude-logo.sv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725905" y="6434138"/>
            <a:ext cx="161295" cy="16192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271713"/>
            <a:ext cx="10820400" cy="561975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825" b="1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Indicadores por facultad</a:t>
            </a:r>
            <a:endParaRPr lang="en-US" sz="3825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3214688"/>
          <a:ext cx="10820400" cy="914400"/>
        </p:xfrm>
        <a:graphic>
          <a:graphicData uri="http://schemas.openxmlformats.org/drawingml/2006/table">
            <a:tbl>
              <a:tblPr/>
              <a:tblGrid>
                <a:gridCol w="2705100"/>
                <a:gridCol w="2705100"/>
                <a:gridCol w="2705100"/>
                <a:gridCol w="27051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Libre Franklin" pitchFamily="34" charset="0"/>
                          <a:ea typeface="Libre Franklin" pitchFamily="34" charset="-122"/>
                          <a:cs typeface="Libre Franklin" pitchFamily="34" charset="-120"/>
                        </a:rPr>
                        <a:t>Facultad</a:t>
                      </a:r>
                      <a:endParaRPr lang="en-US" sz="1200" dirty="0">
                        <a:latin typeface="Libre Franklin" charset="0"/>
                        <a:ea typeface="Libre Franklin" charset="0"/>
                        <a:cs typeface="Libre Franklin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5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Libre Franklin" pitchFamily="34" charset="0"/>
                          <a:ea typeface="Libre Franklin" pitchFamily="34" charset="-122"/>
                          <a:cs typeface="Libre Franklin" pitchFamily="34" charset="-120"/>
                        </a:rPr>
                        <a:t>Estudiantes</a:t>
                      </a:r>
                      <a:endParaRPr lang="en-US" sz="1200" dirty="0">
                        <a:latin typeface="Libre Franklin" charset="0"/>
                        <a:ea typeface="Libre Franklin" charset="0"/>
                        <a:cs typeface="Libre Franklin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5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Libre Franklin" pitchFamily="34" charset="0"/>
                          <a:ea typeface="Libre Franklin" pitchFamily="34" charset="-122"/>
                          <a:cs typeface="Libre Franklin" pitchFamily="34" charset="-120"/>
                        </a:rPr>
                        <a:t>Proyectos</a:t>
                      </a:r>
                      <a:endParaRPr lang="en-US" sz="1200" dirty="0">
                        <a:latin typeface="Libre Franklin" charset="0"/>
                        <a:ea typeface="Libre Franklin" charset="0"/>
                        <a:cs typeface="Libre Franklin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5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Libre Franklin" pitchFamily="34" charset="0"/>
                          <a:ea typeface="Libre Franklin" pitchFamily="34" charset="-122"/>
                          <a:cs typeface="Libre Franklin" pitchFamily="34" charset="-120"/>
                        </a:rPr>
                        <a:t>Publicaciones</a:t>
                      </a:r>
                      <a:endParaRPr lang="en-US" sz="1200" dirty="0">
                        <a:latin typeface="Libre Franklin" charset="0"/>
                        <a:ea typeface="Libre Franklin" charset="0"/>
                        <a:cs typeface="Libre Franklin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5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C3C3B"/>
                          </a:solidFill>
                          <a:latin typeface="Libre Franklin" pitchFamily="34" charset="0"/>
                          <a:ea typeface="Libre Franklin" pitchFamily="34" charset="-122"/>
                          <a:cs typeface="Libre Franklin" pitchFamily="34" charset="-120"/>
                        </a:rPr>
                        <a:t>Ingeniería</a:t>
                      </a:r>
                      <a:endParaRPr lang="en-US" sz="1200" dirty="0">
                        <a:latin typeface="Libre Franklin" charset="0"/>
                        <a:ea typeface="Libre Franklin" charset="0"/>
                        <a:cs typeface="Libre Franklin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C3C3B"/>
                          </a:solidFill>
                          <a:latin typeface="Libre Franklin" pitchFamily="34" charset="0"/>
                          <a:ea typeface="Libre Franklin" pitchFamily="34" charset="-122"/>
                          <a:cs typeface="Libre Franklin" pitchFamily="34" charset="-120"/>
                        </a:rPr>
                        <a:t>1,850</a:t>
                      </a:r>
                      <a:endParaRPr lang="en-US" sz="1200" dirty="0">
                        <a:latin typeface="Libre Franklin" charset="0"/>
                        <a:ea typeface="Libre Franklin" charset="0"/>
                        <a:cs typeface="Libre Franklin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C3C3B"/>
                          </a:solidFill>
                          <a:latin typeface="Libre Franklin" pitchFamily="34" charset="0"/>
                          <a:ea typeface="Libre Franklin" pitchFamily="34" charset="-122"/>
                          <a:cs typeface="Libre Franklin" pitchFamily="34" charset="-120"/>
                        </a:rPr>
                        <a:t>32</a:t>
                      </a:r>
                      <a:endParaRPr lang="en-US" sz="1200" dirty="0">
                        <a:latin typeface="Libre Franklin" charset="0"/>
                        <a:ea typeface="Libre Franklin" charset="0"/>
                        <a:cs typeface="Libre Franklin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C3C3B"/>
                          </a:solidFill>
                          <a:latin typeface="Libre Franklin" pitchFamily="34" charset="0"/>
                          <a:ea typeface="Libre Franklin" pitchFamily="34" charset="-122"/>
                          <a:cs typeface="Libre Franklin" pitchFamily="34" charset="-120"/>
                        </a:rPr>
                        <a:t>12</a:t>
                      </a:r>
                      <a:endParaRPr lang="en-US" sz="1200" dirty="0">
                        <a:latin typeface="Libre Franklin" charset="0"/>
                        <a:ea typeface="Libre Franklin" charset="0"/>
                        <a:cs typeface="Libre Franklin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C3C3B"/>
                          </a:solidFill>
                          <a:latin typeface="Libre Franklin" pitchFamily="34" charset="0"/>
                          <a:ea typeface="Libre Franklin" pitchFamily="34" charset="-122"/>
                          <a:cs typeface="Libre Franklin" pitchFamily="34" charset="-120"/>
                        </a:rPr>
                        <a:t>Medicina</a:t>
                      </a:r>
                      <a:endParaRPr lang="en-US" sz="1200" dirty="0">
                        <a:latin typeface="Libre Franklin" charset="0"/>
                        <a:ea typeface="Libre Franklin" charset="0"/>
                        <a:cs typeface="Libre Franklin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C3C3B"/>
                          </a:solidFill>
                          <a:latin typeface="Libre Franklin" pitchFamily="34" charset="0"/>
                          <a:ea typeface="Libre Franklin" pitchFamily="34" charset="-122"/>
                          <a:cs typeface="Libre Franklin" pitchFamily="34" charset="-120"/>
                        </a:rPr>
                        <a:t>1,420</a:t>
                      </a:r>
                      <a:endParaRPr lang="en-US" sz="1200" dirty="0">
                        <a:latin typeface="Libre Franklin" charset="0"/>
                        <a:ea typeface="Libre Franklin" charset="0"/>
                        <a:cs typeface="Libre Franklin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C3C3B"/>
                          </a:solidFill>
                          <a:latin typeface="Libre Franklin" pitchFamily="34" charset="0"/>
                          <a:ea typeface="Libre Franklin" pitchFamily="34" charset="-122"/>
                          <a:cs typeface="Libre Franklin" pitchFamily="34" charset="-120"/>
                        </a:rPr>
                        <a:t>28</a:t>
                      </a:r>
                      <a:endParaRPr lang="en-US" sz="1200" dirty="0">
                        <a:latin typeface="Libre Franklin" charset="0"/>
                        <a:ea typeface="Libre Franklin" charset="0"/>
                        <a:cs typeface="Libre Franklin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C3C3B"/>
                          </a:solidFill>
                          <a:latin typeface="Libre Franklin" pitchFamily="34" charset="0"/>
                          <a:ea typeface="Libre Franklin" pitchFamily="34" charset="-122"/>
                          <a:cs typeface="Libre Franklin" pitchFamily="34" charset="-120"/>
                        </a:rPr>
                        <a:t>19</a:t>
                      </a:r>
                      <a:endParaRPr lang="en-US" sz="1200" dirty="0">
                        <a:latin typeface="Libre Franklin" charset="0"/>
                        <a:ea typeface="Libre Franklin" charset="0"/>
                        <a:cs typeface="Libre Franklin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C3C3B"/>
                          </a:solidFill>
                          <a:latin typeface="Libre Franklin" pitchFamily="34" charset="0"/>
                          <a:ea typeface="Libre Franklin" pitchFamily="34" charset="-122"/>
                          <a:cs typeface="Libre Franklin" pitchFamily="34" charset="-120"/>
                        </a:rPr>
                        <a:t>Educación</a:t>
                      </a:r>
                      <a:endParaRPr lang="en-US" sz="1200" dirty="0">
                        <a:latin typeface="Libre Franklin" charset="0"/>
                        <a:ea typeface="Libre Franklin" charset="0"/>
                        <a:cs typeface="Libre Franklin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C3C3B"/>
                          </a:solidFill>
                          <a:latin typeface="Libre Franklin" pitchFamily="34" charset="0"/>
                          <a:ea typeface="Libre Franklin" pitchFamily="34" charset="-122"/>
                          <a:cs typeface="Libre Franklin" pitchFamily="34" charset="-120"/>
                        </a:rPr>
                        <a:t>980</a:t>
                      </a:r>
                      <a:endParaRPr lang="en-US" sz="1200" dirty="0">
                        <a:latin typeface="Libre Franklin" charset="0"/>
                        <a:ea typeface="Libre Franklin" charset="0"/>
                        <a:cs typeface="Libre Franklin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C3C3B"/>
                          </a:solidFill>
                          <a:latin typeface="Libre Franklin" pitchFamily="34" charset="0"/>
                          <a:ea typeface="Libre Franklin" pitchFamily="34" charset="-122"/>
                          <a:cs typeface="Libre Franklin" pitchFamily="34" charset="-120"/>
                        </a:rPr>
                        <a:t>14</a:t>
                      </a:r>
                      <a:endParaRPr lang="en-US" sz="1200" dirty="0">
                        <a:latin typeface="Libre Franklin" charset="0"/>
                        <a:ea typeface="Libre Franklin" charset="0"/>
                        <a:cs typeface="Libre Franklin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C3C3B"/>
                          </a:solidFill>
                          <a:latin typeface="Libre Franklin" pitchFamily="34" charset="0"/>
                          <a:ea typeface="Libre Franklin" pitchFamily="34" charset="-122"/>
                          <a:cs typeface="Libre Franklin" pitchFamily="34" charset="-120"/>
                        </a:rPr>
                        <a:t>7</a:t>
                      </a:r>
                      <a:endParaRPr lang="en-US" sz="1200" dirty="0">
                        <a:latin typeface="Libre Franklin" charset="0"/>
                        <a:ea typeface="Libre Franklin" charset="0"/>
                        <a:cs typeface="Libre Franklin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pic>
        <p:nvPicPr>
          <p:cNvPr id="4" name="Image 0" descr="C:\Users\sergiogonro\Documents\dde\unisabana-presentation-system\core\brand\assets\logo-horizontal-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33400"/>
            <a:ext cx="804425" cy="34290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9696450" y="6400800"/>
            <a:ext cx="195325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17175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Diseñado con Claude Design</a:t>
            </a:r>
            <a:endParaRPr lang="en-US" sz="1050" dirty="0"/>
          </a:p>
        </p:txBody>
      </p:sp>
      <p:pic>
        <p:nvPicPr>
          <p:cNvPr id="6" name="Image 1" descr="C:\Users\sergiogonro\Documents\dde\unisabana-presentation-system\core\brand\assets\claude-logo.sv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725905" y="6434138"/>
            <a:ext cx="161295" cy="16192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17144" cy="6858000"/>
          </a:xfrm>
          <a:prstGeom prst="rect">
            <a:avLst/>
          </a:prstGeom>
          <a:solidFill>
            <a:srgbClr val="003A86"/>
          </a:solidFill>
          <a:ln/>
        </p:spPr>
      </p:sp>
      <p:sp>
        <p:nvSpPr>
          <p:cNvPr id="3" name="Shape 1"/>
          <p:cNvSpPr/>
          <p:nvPr/>
        </p:nvSpPr>
        <p:spPr>
          <a:xfrm>
            <a:off x="508000" y="0"/>
            <a:ext cx="517144" cy="6858000"/>
          </a:xfrm>
          <a:prstGeom prst="rect">
            <a:avLst/>
          </a:prstGeom>
          <a:solidFill>
            <a:srgbClr val="013984"/>
          </a:solidFill>
          <a:ln/>
        </p:spPr>
      </p:sp>
      <p:sp>
        <p:nvSpPr>
          <p:cNvPr id="4" name="Shape 2"/>
          <p:cNvSpPr/>
          <p:nvPr/>
        </p:nvSpPr>
        <p:spPr>
          <a:xfrm>
            <a:off x="1016000" y="0"/>
            <a:ext cx="517144" cy="6858000"/>
          </a:xfrm>
          <a:prstGeom prst="rect">
            <a:avLst/>
          </a:prstGeom>
          <a:solidFill>
            <a:srgbClr val="013882"/>
          </a:solidFill>
          <a:ln/>
        </p:spPr>
      </p:sp>
      <p:sp>
        <p:nvSpPr>
          <p:cNvPr id="5" name="Shape 3"/>
          <p:cNvSpPr/>
          <p:nvPr/>
        </p:nvSpPr>
        <p:spPr>
          <a:xfrm>
            <a:off x="1524000" y="0"/>
            <a:ext cx="517144" cy="6858000"/>
          </a:xfrm>
          <a:prstGeom prst="rect">
            <a:avLst/>
          </a:prstGeom>
          <a:solidFill>
            <a:srgbClr val="023780"/>
          </a:solidFill>
          <a:ln/>
        </p:spPr>
      </p:sp>
      <p:sp>
        <p:nvSpPr>
          <p:cNvPr id="6" name="Shape 4"/>
          <p:cNvSpPr/>
          <p:nvPr/>
        </p:nvSpPr>
        <p:spPr>
          <a:xfrm>
            <a:off x="2032000" y="0"/>
            <a:ext cx="517144" cy="6858000"/>
          </a:xfrm>
          <a:prstGeom prst="rect">
            <a:avLst/>
          </a:prstGeom>
          <a:solidFill>
            <a:srgbClr val="02367E"/>
          </a:solidFill>
          <a:ln/>
        </p:spPr>
      </p:sp>
      <p:sp>
        <p:nvSpPr>
          <p:cNvPr id="7" name="Shape 5"/>
          <p:cNvSpPr/>
          <p:nvPr/>
        </p:nvSpPr>
        <p:spPr>
          <a:xfrm>
            <a:off x="2540000" y="0"/>
            <a:ext cx="517144" cy="6858000"/>
          </a:xfrm>
          <a:prstGeom prst="rect">
            <a:avLst/>
          </a:prstGeom>
          <a:solidFill>
            <a:srgbClr val="03357C"/>
          </a:solidFill>
          <a:ln/>
        </p:spPr>
      </p:sp>
      <p:sp>
        <p:nvSpPr>
          <p:cNvPr id="8" name="Shape 6"/>
          <p:cNvSpPr/>
          <p:nvPr/>
        </p:nvSpPr>
        <p:spPr>
          <a:xfrm>
            <a:off x="3048000" y="0"/>
            <a:ext cx="517144" cy="6858000"/>
          </a:xfrm>
          <a:prstGeom prst="rect">
            <a:avLst/>
          </a:prstGeom>
          <a:solidFill>
            <a:srgbClr val="03337A"/>
          </a:solidFill>
          <a:ln/>
        </p:spPr>
      </p:sp>
      <p:sp>
        <p:nvSpPr>
          <p:cNvPr id="9" name="Shape 7"/>
          <p:cNvSpPr/>
          <p:nvPr/>
        </p:nvSpPr>
        <p:spPr>
          <a:xfrm>
            <a:off x="3556000" y="0"/>
            <a:ext cx="517144" cy="6858000"/>
          </a:xfrm>
          <a:prstGeom prst="rect">
            <a:avLst/>
          </a:prstGeom>
          <a:solidFill>
            <a:srgbClr val="043278"/>
          </a:solidFill>
          <a:ln/>
        </p:spPr>
      </p:sp>
      <p:sp>
        <p:nvSpPr>
          <p:cNvPr id="10" name="Shape 8"/>
          <p:cNvSpPr/>
          <p:nvPr/>
        </p:nvSpPr>
        <p:spPr>
          <a:xfrm>
            <a:off x="4064000" y="0"/>
            <a:ext cx="517144" cy="6858000"/>
          </a:xfrm>
          <a:prstGeom prst="rect">
            <a:avLst/>
          </a:prstGeom>
          <a:solidFill>
            <a:srgbClr val="053176"/>
          </a:solidFill>
          <a:ln/>
        </p:spPr>
      </p:sp>
      <p:sp>
        <p:nvSpPr>
          <p:cNvPr id="11" name="Shape 9"/>
          <p:cNvSpPr/>
          <p:nvPr/>
        </p:nvSpPr>
        <p:spPr>
          <a:xfrm>
            <a:off x="4572000" y="0"/>
            <a:ext cx="517144" cy="6858000"/>
          </a:xfrm>
          <a:prstGeom prst="rect">
            <a:avLst/>
          </a:prstGeom>
          <a:solidFill>
            <a:srgbClr val="053074"/>
          </a:solidFill>
          <a:ln/>
        </p:spPr>
      </p:sp>
      <p:sp>
        <p:nvSpPr>
          <p:cNvPr id="12" name="Shape 10"/>
          <p:cNvSpPr/>
          <p:nvPr/>
        </p:nvSpPr>
        <p:spPr>
          <a:xfrm>
            <a:off x="5080000" y="0"/>
            <a:ext cx="517144" cy="6858000"/>
          </a:xfrm>
          <a:prstGeom prst="rect">
            <a:avLst/>
          </a:prstGeom>
          <a:solidFill>
            <a:srgbClr val="062F72"/>
          </a:solidFill>
          <a:ln/>
        </p:spPr>
      </p:sp>
      <p:sp>
        <p:nvSpPr>
          <p:cNvPr id="13" name="Shape 11"/>
          <p:cNvSpPr/>
          <p:nvPr/>
        </p:nvSpPr>
        <p:spPr>
          <a:xfrm>
            <a:off x="5588000" y="0"/>
            <a:ext cx="517144" cy="6858000"/>
          </a:xfrm>
          <a:prstGeom prst="rect">
            <a:avLst/>
          </a:prstGeom>
          <a:solidFill>
            <a:srgbClr val="062E70"/>
          </a:solidFill>
          <a:ln/>
        </p:spPr>
      </p:sp>
      <p:sp>
        <p:nvSpPr>
          <p:cNvPr id="14" name="Shape 12"/>
          <p:cNvSpPr/>
          <p:nvPr/>
        </p:nvSpPr>
        <p:spPr>
          <a:xfrm>
            <a:off x="6096000" y="0"/>
            <a:ext cx="517144" cy="6858000"/>
          </a:xfrm>
          <a:prstGeom prst="rect">
            <a:avLst/>
          </a:prstGeom>
          <a:solidFill>
            <a:srgbClr val="072D6D"/>
          </a:solidFill>
          <a:ln/>
        </p:spPr>
      </p:sp>
      <p:sp>
        <p:nvSpPr>
          <p:cNvPr id="15" name="Shape 13"/>
          <p:cNvSpPr/>
          <p:nvPr/>
        </p:nvSpPr>
        <p:spPr>
          <a:xfrm>
            <a:off x="6604000" y="0"/>
            <a:ext cx="517144" cy="6858000"/>
          </a:xfrm>
          <a:prstGeom prst="rect">
            <a:avLst/>
          </a:prstGeom>
          <a:solidFill>
            <a:srgbClr val="072C6B"/>
          </a:solidFill>
          <a:ln/>
        </p:spPr>
      </p:sp>
      <p:sp>
        <p:nvSpPr>
          <p:cNvPr id="16" name="Shape 14"/>
          <p:cNvSpPr/>
          <p:nvPr/>
        </p:nvSpPr>
        <p:spPr>
          <a:xfrm>
            <a:off x="7112000" y="0"/>
            <a:ext cx="517144" cy="6858000"/>
          </a:xfrm>
          <a:prstGeom prst="rect">
            <a:avLst/>
          </a:prstGeom>
          <a:solidFill>
            <a:srgbClr val="082B69"/>
          </a:solidFill>
          <a:ln/>
        </p:spPr>
      </p:sp>
      <p:sp>
        <p:nvSpPr>
          <p:cNvPr id="17" name="Shape 15"/>
          <p:cNvSpPr/>
          <p:nvPr/>
        </p:nvSpPr>
        <p:spPr>
          <a:xfrm>
            <a:off x="7620000" y="0"/>
            <a:ext cx="517144" cy="6858000"/>
          </a:xfrm>
          <a:prstGeom prst="rect">
            <a:avLst/>
          </a:prstGeom>
          <a:solidFill>
            <a:srgbClr val="082A67"/>
          </a:solidFill>
          <a:ln/>
        </p:spPr>
      </p:sp>
      <p:sp>
        <p:nvSpPr>
          <p:cNvPr id="18" name="Shape 16"/>
          <p:cNvSpPr/>
          <p:nvPr/>
        </p:nvSpPr>
        <p:spPr>
          <a:xfrm>
            <a:off x="8128000" y="0"/>
            <a:ext cx="517144" cy="6858000"/>
          </a:xfrm>
          <a:prstGeom prst="rect">
            <a:avLst/>
          </a:prstGeom>
          <a:solidFill>
            <a:srgbClr val="092965"/>
          </a:solidFill>
          <a:ln/>
        </p:spPr>
      </p:sp>
      <p:sp>
        <p:nvSpPr>
          <p:cNvPr id="19" name="Shape 17"/>
          <p:cNvSpPr/>
          <p:nvPr/>
        </p:nvSpPr>
        <p:spPr>
          <a:xfrm>
            <a:off x="8636000" y="0"/>
            <a:ext cx="517144" cy="6858000"/>
          </a:xfrm>
          <a:prstGeom prst="rect">
            <a:avLst/>
          </a:prstGeom>
          <a:solidFill>
            <a:srgbClr val="0A2863"/>
          </a:solidFill>
          <a:ln/>
        </p:spPr>
      </p:sp>
      <p:sp>
        <p:nvSpPr>
          <p:cNvPr id="20" name="Shape 18"/>
          <p:cNvSpPr/>
          <p:nvPr/>
        </p:nvSpPr>
        <p:spPr>
          <a:xfrm>
            <a:off x="9144000" y="0"/>
            <a:ext cx="517144" cy="6858000"/>
          </a:xfrm>
          <a:prstGeom prst="rect">
            <a:avLst/>
          </a:prstGeom>
          <a:solidFill>
            <a:srgbClr val="0A2661"/>
          </a:solidFill>
          <a:ln/>
        </p:spPr>
      </p:sp>
      <p:sp>
        <p:nvSpPr>
          <p:cNvPr id="21" name="Shape 19"/>
          <p:cNvSpPr/>
          <p:nvPr/>
        </p:nvSpPr>
        <p:spPr>
          <a:xfrm>
            <a:off x="9652000" y="0"/>
            <a:ext cx="517144" cy="6858000"/>
          </a:xfrm>
          <a:prstGeom prst="rect">
            <a:avLst/>
          </a:prstGeom>
          <a:solidFill>
            <a:srgbClr val="0B255F"/>
          </a:solidFill>
          <a:ln/>
        </p:spPr>
      </p:sp>
      <p:sp>
        <p:nvSpPr>
          <p:cNvPr id="22" name="Shape 20"/>
          <p:cNvSpPr/>
          <p:nvPr/>
        </p:nvSpPr>
        <p:spPr>
          <a:xfrm>
            <a:off x="10160000" y="0"/>
            <a:ext cx="517144" cy="6858000"/>
          </a:xfrm>
          <a:prstGeom prst="rect">
            <a:avLst/>
          </a:prstGeom>
          <a:solidFill>
            <a:srgbClr val="0B245D"/>
          </a:solidFill>
          <a:ln/>
        </p:spPr>
      </p:sp>
      <p:sp>
        <p:nvSpPr>
          <p:cNvPr id="23" name="Shape 21"/>
          <p:cNvSpPr/>
          <p:nvPr/>
        </p:nvSpPr>
        <p:spPr>
          <a:xfrm>
            <a:off x="10668000" y="0"/>
            <a:ext cx="517144" cy="6858000"/>
          </a:xfrm>
          <a:prstGeom prst="rect">
            <a:avLst/>
          </a:prstGeom>
          <a:solidFill>
            <a:srgbClr val="0C235B"/>
          </a:solidFill>
          <a:ln/>
        </p:spPr>
      </p:sp>
      <p:sp>
        <p:nvSpPr>
          <p:cNvPr id="24" name="Shape 22"/>
          <p:cNvSpPr/>
          <p:nvPr/>
        </p:nvSpPr>
        <p:spPr>
          <a:xfrm>
            <a:off x="11176000" y="0"/>
            <a:ext cx="517144" cy="6858000"/>
          </a:xfrm>
          <a:prstGeom prst="rect">
            <a:avLst/>
          </a:prstGeom>
          <a:solidFill>
            <a:srgbClr val="0C2259"/>
          </a:solidFill>
          <a:ln/>
        </p:spPr>
      </p:sp>
      <p:sp>
        <p:nvSpPr>
          <p:cNvPr id="25" name="Shape 23"/>
          <p:cNvSpPr/>
          <p:nvPr/>
        </p:nvSpPr>
        <p:spPr>
          <a:xfrm>
            <a:off x="11684000" y="0"/>
            <a:ext cx="517144" cy="6858000"/>
          </a:xfrm>
          <a:prstGeom prst="rect">
            <a:avLst/>
          </a:prstGeom>
          <a:solidFill>
            <a:srgbClr val="0D2157"/>
          </a:solidFill>
          <a:ln/>
        </p:spPr>
      </p:sp>
      <p:pic>
        <p:nvPicPr>
          <p:cNvPr id="26" name="Image 0" descr="C:\Users\sergiogonro\Documents\dde\unisabana-presentation-system\core\brand\assets\brand-wa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7" name="Text 24"/>
          <p:cNvSpPr/>
          <p:nvPr/>
        </p:nvSpPr>
        <p:spPr>
          <a:xfrm>
            <a:off x="685800" y="2752725"/>
            <a:ext cx="8229600" cy="10287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“La investigación aplicada es el puente entre el conocimiento y el bienestar de la sociedad.”</a:t>
            </a:r>
            <a:endParaRPr lang="en-US" sz="3000" dirty="0"/>
          </a:p>
        </p:txBody>
      </p:sp>
      <p:sp>
        <p:nvSpPr>
          <p:cNvPr id="28" name="Text 25"/>
          <p:cNvSpPr/>
          <p:nvPr/>
        </p:nvSpPr>
        <p:spPr>
          <a:xfrm>
            <a:off x="685800" y="4067175"/>
            <a:ext cx="73152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8B1D3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— Rectoría, Universidad de La Sabana</a:t>
            </a:r>
            <a:endParaRPr lang="en-US" sz="1500" dirty="0"/>
          </a:p>
        </p:txBody>
      </p:sp>
      <p:pic>
        <p:nvPicPr>
          <p:cNvPr id="29" name="Image 1" descr="C:\Users\sergiogonro\Documents\dde\unisabana-presentation-system\core\brand\assets\logo-horizontal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533400"/>
            <a:ext cx="804425" cy="342900"/>
          </a:xfrm>
          <a:prstGeom prst="rect">
            <a:avLst/>
          </a:prstGeom>
        </p:spPr>
      </p:pic>
      <p:sp>
        <p:nvSpPr>
          <p:cNvPr id="30" name="Text 26"/>
          <p:cNvSpPr/>
          <p:nvPr/>
        </p:nvSpPr>
        <p:spPr>
          <a:xfrm>
            <a:off x="9696450" y="6400800"/>
            <a:ext cx="195325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8B1D3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Diseñado con Claude Design</a:t>
            </a:r>
            <a:endParaRPr lang="en-US" sz="1050" dirty="0"/>
          </a:p>
        </p:txBody>
      </p:sp>
      <p:pic>
        <p:nvPicPr>
          <p:cNvPr id="31" name="Image 2" descr="C:\Users\sergiogonro\Documents\dde\unisabana-presentation-system\core\brand\assets\claude-logo.sv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725905" y="6434138"/>
            <a:ext cx="161295" cy="161925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17144" cy="6858000"/>
          </a:xfrm>
          <a:prstGeom prst="rect">
            <a:avLst/>
          </a:prstGeom>
          <a:solidFill>
            <a:srgbClr val="003A86"/>
          </a:solidFill>
          <a:ln/>
        </p:spPr>
      </p:sp>
      <p:sp>
        <p:nvSpPr>
          <p:cNvPr id="3" name="Shape 1"/>
          <p:cNvSpPr/>
          <p:nvPr/>
        </p:nvSpPr>
        <p:spPr>
          <a:xfrm>
            <a:off x="508000" y="0"/>
            <a:ext cx="517144" cy="6858000"/>
          </a:xfrm>
          <a:prstGeom prst="rect">
            <a:avLst/>
          </a:prstGeom>
          <a:solidFill>
            <a:srgbClr val="013984"/>
          </a:solidFill>
          <a:ln/>
        </p:spPr>
      </p:sp>
      <p:sp>
        <p:nvSpPr>
          <p:cNvPr id="4" name="Shape 2"/>
          <p:cNvSpPr/>
          <p:nvPr/>
        </p:nvSpPr>
        <p:spPr>
          <a:xfrm>
            <a:off x="1016000" y="0"/>
            <a:ext cx="517144" cy="6858000"/>
          </a:xfrm>
          <a:prstGeom prst="rect">
            <a:avLst/>
          </a:prstGeom>
          <a:solidFill>
            <a:srgbClr val="013882"/>
          </a:solidFill>
          <a:ln/>
        </p:spPr>
      </p:sp>
      <p:sp>
        <p:nvSpPr>
          <p:cNvPr id="5" name="Shape 3"/>
          <p:cNvSpPr/>
          <p:nvPr/>
        </p:nvSpPr>
        <p:spPr>
          <a:xfrm>
            <a:off x="1524000" y="0"/>
            <a:ext cx="517144" cy="6858000"/>
          </a:xfrm>
          <a:prstGeom prst="rect">
            <a:avLst/>
          </a:prstGeom>
          <a:solidFill>
            <a:srgbClr val="023780"/>
          </a:solidFill>
          <a:ln/>
        </p:spPr>
      </p:sp>
      <p:sp>
        <p:nvSpPr>
          <p:cNvPr id="6" name="Shape 4"/>
          <p:cNvSpPr/>
          <p:nvPr/>
        </p:nvSpPr>
        <p:spPr>
          <a:xfrm>
            <a:off x="2032000" y="0"/>
            <a:ext cx="517144" cy="6858000"/>
          </a:xfrm>
          <a:prstGeom prst="rect">
            <a:avLst/>
          </a:prstGeom>
          <a:solidFill>
            <a:srgbClr val="02367E"/>
          </a:solidFill>
          <a:ln/>
        </p:spPr>
      </p:sp>
      <p:sp>
        <p:nvSpPr>
          <p:cNvPr id="7" name="Shape 5"/>
          <p:cNvSpPr/>
          <p:nvPr/>
        </p:nvSpPr>
        <p:spPr>
          <a:xfrm>
            <a:off x="2540000" y="0"/>
            <a:ext cx="517144" cy="6858000"/>
          </a:xfrm>
          <a:prstGeom prst="rect">
            <a:avLst/>
          </a:prstGeom>
          <a:solidFill>
            <a:srgbClr val="03357C"/>
          </a:solidFill>
          <a:ln/>
        </p:spPr>
      </p:sp>
      <p:sp>
        <p:nvSpPr>
          <p:cNvPr id="8" name="Shape 6"/>
          <p:cNvSpPr/>
          <p:nvPr/>
        </p:nvSpPr>
        <p:spPr>
          <a:xfrm>
            <a:off x="3048000" y="0"/>
            <a:ext cx="517144" cy="6858000"/>
          </a:xfrm>
          <a:prstGeom prst="rect">
            <a:avLst/>
          </a:prstGeom>
          <a:solidFill>
            <a:srgbClr val="03337A"/>
          </a:solidFill>
          <a:ln/>
        </p:spPr>
      </p:sp>
      <p:sp>
        <p:nvSpPr>
          <p:cNvPr id="9" name="Shape 7"/>
          <p:cNvSpPr/>
          <p:nvPr/>
        </p:nvSpPr>
        <p:spPr>
          <a:xfrm>
            <a:off x="3556000" y="0"/>
            <a:ext cx="517144" cy="6858000"/>
          </a:xfrm>
          <a:prstGeom prst="rect">
            <a:avLst/>
          </a:prstGeom>
          <a:solidFill>
            <a:srgbClr val="043278"/>
          </a:solidFill>
          <a:ln/>
        </p:spPr>
      </p:sp>
      <p:sp>
        <p:nvSpPr>
          <p:cNvPr id="10" name="Shape 8"/>
          <p:cNvSpPr/>
          <p:nvPr/>
        </p:nvSpPr>
        <p:spPr>
          <a:xfrm>
            <a:off x="4064000" y="0"/>
            <a:ext cx="517144" cy="6858000"/>
          </a:xfrm>
          <a:prstGeom prst="rect">
            <a:avLst/>
          </a:prstGeom>
          <a:solidFill>
            <a:srgbClr val="053176"/>
          </a:solidFill>
          <a:ln/>
        </p:spPr>
      </p:sp>
      <p:sp>
        <p:nvSpPr>
          <p:cNvPr id="11" name="Shape 9"/>
          <p:cNvSpPr/>
          <p:nvPr/>
        </p:nvSpPr>
        <p:spPr>
          <a:xfrm>
            <a:off x="4572000" y="0"/>
            <a:ext cx="517144" cy="6858000"/>
          </a:xfrm>
          <a:prstGeom prst="rect">
            <a:avLst/>
          </a:prstGeom>
          <a:solidFill>
            <a:srgbClr val="053074"/>
          </a:solidFill>
          <a:ln/>
        </p:spPr>
      </p:sp>
      <p:sp>
        <p:nvSpPr>
          <p:cNvPr id="12" name="Shape 10"/>
          <p:cNvSpPr/>
          <p:nvPr/>
        </p:nvSpPr>
        <p:spPr>
          <a:xfrm>
            <a:off x="5080000" y="0"/>
            <a:ext cx="517144" cy="6858000"/>
          </a:xfrm>
          <a:prstGeom prst="rect">
            <a:avLst/>
          </a:prstGeom>
          <a:solidFill>
            <a:srgbClr val="062F72"/>
          </a:solidFill>
          <a:ln/>
        </p:spPr>
      </p:sp>
      <p:sp>
        <p:nvSpPr>
          <p:cNvPr id="13" name="Shape 11"/>
          <p:cNvSpPr/>
          <p:nvPr/>
        </p:nvSpPr>
        <p:spPr>
          <a:xfrm>
            <a:off x="5588000" y="0"/>
            <a:ext cx="517144" cy="6858000"/>
          </a:xfrm>
          <a:prstGeom prst="rect">
            <a:avLst/>
          </a:prstGeom>
          <a:solidFill>
            <a:srgbClr val="062E70"/>
          </a:solidFill>
          <a:ln/>
        </p:spPr>
      </p:sp>
      <p:sp>
        <p:nvSpPr>
          <p:cNvPr id="14" name="Shape 12"/>
          <p:cNvSpPr/>
          <p:nvPr/>
        </p:nvSpPr>
        <p:spPr>
          <a:xfrm>
            <a:off x="6096000" y="0"/>
            <a:ext cx="517144" cy="6858000"/>
          </a:xfrm>
          <a:prstGeom prst="rect">
            <a:avLst/>
          </a:prstGeom>
          <a:solidFill>
            <a:srgbClr val="072D6D"/>
          </a:solidFill>
          <a:ln/>
        </p:spPr>
      </p:sp>
      <p:sp>
        <p:nvSpPr>
          <p:cNvPr id="15" name="Shape 13"/>
          <p:cNvSpPr/>
          <p:nvPr/>
        </p:nvSpPr>
        <p:spPr>
          <a:xfrm>
            <a:off x="6604000" y="0"/>
            <a:ext cx="517144" cy="6858000"/>
          </a:xfrm>
          <a:prstGeom prst="rect">
            <a:avLst/>
          </a:prstGeom>
          <a:solidFill>
            <a:srgbClr val="072C6B"/>
          </a:solidFill>
          <a:ln/>
        </p:spPr>
      </p:sp>
      <p:sp>
        <p:nvSpPr>
          <p:cNvPr id="16" name="Shape 14"/>
          <p:cNvSpPr/>
          <p:nvPr/>
        </p:nvSpPr>
        <p:spPr>
          <a:xfrm>
            <a:off x="7112000" y="0"/>
            <a:ext cx="517144" cy="6858000"/>
          </a:xfrm>
          <a:prstGeom prst="rect">
            <a:avLst/>
          </a:prstGeom>
          <a:solidFill>
            <a:srgbClr val="082B69"/>
          </a:solidFill>
          <a:ln/>
        </p:spPr>
      </p:sp>
      <p:sp>
        <p:nvSpPr>
          <p:cNvPr id="17" name="Shape 15"/>
          <p:cNvSpPr/>
          <p:nvPr/>
        </p:nvSpPr>
        <p:spPr>
          <a:xfrm>
            <a:off x="7620000" y="0"/>
            <a:ext cx="517144" cy="6858000"/>
          </a:xfrm>
          <a:prstGeom prst="rect">
            <a:avLst/>
          </a:prstGeom>
          <a:solidFill>
            <a:srgbClr val="082A67"/>
          </a:solidFill>
          <a:ln/>
        </p:spPr>
      </p:sp>
      <p:sp>
        <p:nvSpPr>
          <p:cNvPr id="18" name="Shape 16"/>
          <p:cNvSpPr/>
          <p:nvPr/>
        </p:nvSpPr>
        <p:spPr>
          <a:xfrm>
            <a:off x="8128000" y="0"/>
            <a:ext cx="517144" cy="6858000"/>
          </a:xfrm>
          <a:prstGeom prst="rect">
            <a:avLst/>
          </a:prstGeom>
          <a:solidFill>
            <a:srgbClr val="092965"/>
          </a:solidFill>
          <a:ln/>
        </p:spPr>
      </p:sp>
      <p:sp>
        <p:nvSpPr>
          <p:cNvPr id="19" name="Shape 17"/>
          <p:cNvSpPr/>
          <p:nvPr/>
        </p:nvSpPr>
        <p:spPr>
          <a:xfrm>
            <a:off x="8636000" y="0"/>
            <a:ext cx="517144" cy="6858000"/>
          </a:xfrm>
          <a:prstGeom prst="rect">
            <a:avLst/>
          </a:prstGeom>
          <a:solidFill>
            <a:srgbClr val="0A2863"/>
          </a:solidFill>
          <a:ln/>
        </p:spPr>
      </p:sp>
      <p:sp>
        <p:nvSpPr>
          <p:cNvPr id="20" name="Shape 18"/>
          <p:cNvSpPr/>
          <p:nvPr/>
        </p:nvSpPr>
        <p:spPr>
          <a:xfrm>
            <a:off x="9144000" y="0"/>
            <a:ext cx="517144" cy="6858000"/>
          </a:xfrm>
          <a:prstGeom prst="rect">
            <a:avLst/>
          </a:prstGeom>
          <a:solidFill>
            <a:srgbClr val="0A2661"/>
          </a:solidFill>
          <a:ln/>
        </p:spPr>
      </p:sp>
      <p:sp>
        <p:nvSpPr>
          <p:cNvPr id="21" name="Shape 19"/>
          <p:cNvSpPr/>
          <p:nvPr/>
        </p:nvSpPr>
        <p:spPr>
          <a:xfrm>
            <a:off x="9652000" y="0"/>
            <a:ext cx="517144" cy="6858000"/>
          </a:xfrm>
          <a:prstGeom prst="rect">
            <a:avLst/>
          </a:prstGeom>
          <a:solidFill>
            <a:srgbClr val="0B255F"/>
          </a:solidFill>
          <a:ln/>
        </p:spPr>
      </p:sp>
      <p:sp>
        <p:nvSpPr>
          <p:cNvPr id="22" name="Shape 20"/>
          <p:cNvSpPr/>
          <p:nvPr/>
        </p:nvSpPr>
        <p:spPr>
          <a:xfrm>
            <a:off x="10160000" y="0"/>
            <a:ext cx="517144" cy="6858000"/>
          </a:xfrm>
          <a:prstGeom prst="rect">
            <a:avLst/>
          </a:prstGeom>
          <a:solidFill>
            <a:srgbClr val="0B245D"/>
          </a:solidFill>
          <a:ln/>
        </p:spPr>
      </p:sp>
      <p:sp>
        <p:nvSpPr>
          <p:cNvPr id="23" name="Shape 21"/>
          <p:cNvSpPr/>
          <p:nvPr/>
        </p:nvSpPr>
        <p:spPr>
          <a:xfrm>
            <a:off x="10668000" y="0"/>
            <a:ext cx="517144" cy="6858000"/>
          </a:xfrm>
          <a:prstGeom prst="rect">
            <a:avLst/>
          </a:prstGeom>
          <a:solidFill>
            <a:srgbClr val="0C235B"/>
          </a:solidFill>
          <a:ln/>
        </p:spPr>
      </p:sp>
      <p:sp>
        <p:nvSpPr>
          <p:cNvPr id="24" name="Shape 22"/>
          <p:cNvSpPr/>
          <p:nvPr/>
        </p:nvSpPr>
        <p:spPr>
          <a:xfrm>
            <a:off x="11176000" y="0"/>
            <a:ext cx="517144" cy="6858000"/>
          </a:xfrm>
          <a:prstGeom prst="rect">
            <a:avLst/>
          </a:prstGeom>
          <a:solidFill>
            <a:srgbClr val="0C2259"/>
          </a:solidFill>
          <a:ln/>
        </p:spPr>
      </p:sp>
      <p:sp>
        <p:nvSpPr>
          <p:cNvPr id="25" name="Shape 23"/>
          <p:cNvSpPr/>
          <p:nvPr/>
        </p:nvSpPr>
        <p:spPr>
          <a:xfrm>
            <a:off x="11684000" y="0"/>
            <a:ext cx="517144" cy="6858000"/>
          </a:xfrm>
          <a:prstGeom prst="rect">
            <a:avLst/>
          </a:prstGeom>
          <a:solidFill>
            <a:srgbClr val="0D2157"/>
          </a:solidFill>
          <a:ln/>
        </p:spPr>
      </p:sp>
      <p:pic>
        <p:nvPicPr>
          <p:cNvPr id="26" name="Image 0" descr="C:\Users\sergiogonro\Documents\dde\unisabana-presentation-system\core\brand\assets\brand-wa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7" name="Text 24"/>
          <p:cNvSpPr/>
          <p:nvPr/>
        </p:nvSpPr>
        <p:spPr>
          <a:xfrm>
            <a:off x="685800" y="2524125"/>
            <a:ext cx="8229600" cy="1704975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900" b="1" dirty="0">
                <a:solidFill>
                  <a:srgbClr val="FFFFF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Seguimos construyendo una universidad que transforma su entorno</a:t>
            </a:r>
            <a:endParaRPr lang="en-US" sz="3900" dirty="0"/>
          </a:p>
        </p:txBody>
      </p:sp>
      <p:sp>
        <p:nvSpPr>
          <p:cNvPr id="28" name="Text 25"/>
          <p:cNvSpPr/>
          <p:nvPr/>
        </p:nvSpPr>
        <p:spPr>
          <a:xfrm>
            <a:off x="685800" y="4610100"/>
            <a:ext cx="7315200" cy="295275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98B1D3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contacto@ejemplo.edu.co (dato ficticio de ejemplo)</a:t>
            </a:r>
            <a:endParaRPr lang="en-US" sz="1500" dirty="0"/>
          </a:p>
        </p:txBody>
      </p:sp>
      <p:pic>
        <p:nvPicPr>
          <p:cNvPr id="29" name="Image 1" descr="C:\Users\sergiogonro\Documents\dde\unisabana-presentation-system\core\brand\assets\logo-horizontal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533400"/>
            <a:ext cx="1608850" cy="685800"/>
          </a:xfrm>
          <a:prstGeom prst="rect">
            <a:avLst/>
          </a:prstGeom>
        </p:spPr>
      </p:pic>
      <p:sp>
        <p:nvSpPr>
          <p:cNvPr id="30" name="Text 26"/>
          <p:cNvSpPr/>
          <p:nvPr/>
        </p:nvSpPr>
        <p:spPr>
          <a:xfrm>
            <a:off x="9696450" y="6400800"/>
            <a:ext cx="195325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8B1D3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Diseñado con Claude Design</a:t>
            </a:r>
            <a:endParaRPr lang="en-US" sz="1050" dirty="0"/>
          </a:p>
        </p:txBody>
      </p:sp>
      <p:pic>
        <p:nvPicPr>
          <p:cNvPr id="31" name="Image 2" descr="C:\Users\sergiogonro\Documents\dde\unisabana-presentation-system\core\brand\assets\claude-logo.sv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725905" y="6434138"/>
            <a:ext cx="161295" cy="16192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Resultados institucionales 2025</dc:title>
  <dc:subject>PptxGenJS Presentation</dc:subject>
  <dc:creator>PptxGenJS</dc:creator>
  <cp:lastModifiedBy>PptxGenJS</cp:lastModifiedBy>
  <cp:revision>1</cp:revision>
  <dcterms:created xsi:type="dcterms:W3CDTF">2026-07-24T20:28:49Z</dcterms:created>
  <dcterms:modified xsi:type="dcterms:W3CDTF">2026-07-24T20:28:49Z</dcterms:modified>
</cp:coreProperties>
</file>