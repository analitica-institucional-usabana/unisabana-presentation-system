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ergiogonro\Documents\dde\unisabana-presentation-system\core\brand\assets\campus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2157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2214563"/>
            <a:ext cx="929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ANUAL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2595563"/>
            <a:ext cx="9296400" cy="21050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Universidad consolidó su crecimiento en investigación durante 2025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85800" y="4929188"/>
            <a:ext cx="9296400" cy="35242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de resultados ante el Consejo Directivo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85800" y="6019800"/>
            <a:ext cx="9296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Rectoría · noviembre de 2025</a:t>
            </a:r>
            <a:endParaRPr lang="en-US" sz="1200" dirty="0"/>
          </a:p>
        </p:txBody>
      </p:sp>
      <p:pic>
        <p:nvPicPr>
          <p:cNvPr id="8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0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509713"/>
            <a:ext cx="5486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Agenda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25288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85800" y="31384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02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financieros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3748087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03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de investigación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3576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04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Comparación entre facultades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49672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05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Cierre y próximos pasos</a:t>
            </a:r>
            <a:endParaRPr lang="en-US" sz="1800" dirty="0"/>
          </a:p>
        </p:txBody>
      </p:sp>
      <p:pic>
        <p:nvPicPr>
          <p:cNvPr id="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0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9040" y="0"/>
            <a:ext cx="4632960" cy="6858000"/>
          </a:xfrm>
          <a:prstGeom prst="rect">
            <a:avLst/>
          </a:prstGeom>
          <a:solidFill>
            <a:srgbClr val="003A86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976438"/>
            <a:ext cx="2743200" cy="1051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85800" y="3214688"/>
            <a:ext cx="8229600" cy="1619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55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5550" dirty="0"/>
          </a:p>
        </p:txBody>
      </p:sp>
      <p:sp>
        <p:nvSpPr>
          <p:cNvPr id="5" name="Text 3"/>
          <p:cNvSpPr/>
          <p:nvPr/>
        </p:nvSpPr>
        <p:spPr>
          <a:xfrm>
            <a:off x="685800" y="5024438"/>
            <a:ext cx="7315200" cy="29527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Panorama general 2025</a:t>
            </a:r>
            <a:endParaRPr lang="en-US" sz="1500" dirty="0"/>
          </a:p>
        </p:txBody>
      </p:sp>
      <p:pic>
        <p:nvPicPr>
          <p:cNvPr id="6" name="Image 0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296018" cy="552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8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909762"/>
            <a:ext cx="9144000" cy="12287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Universidad fortaleció su posición académica regional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85800" y="3367088"/>
            <a:ext cx="8229600" cy="70485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El crecimiento se sostuvo en investigación, internacionalización y bienestar estudiantil.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4300538"/>
            <a:ext cx="10820400" cy="800100"/>
          </a:xfrm>
          <a:prstGeom prst="rect">
            <a:avLst/>
          </a:prstGeom>
          <a:solidFill>
            <a:srgbClr val="0D215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4428554"/>
            <a:ext cx="1027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PUNTO DE PARTIDA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0120" y="4684586"/>
            <a:ext cx="1027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Arrancamos el periodo con una brecha de 12 puntos frente a la meta institucional.</a:t>
            </a:r>
            <a:endParaRPr lang="en-US" sz="1400" dirty="0"/>
          </a:p>
        </p:txBody>
      </p:sp>
      <p:pic>
        <p:nvPicPr>
          <p:cNvPr id="7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9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96988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Los ingresos operacionales crecieron 18% frente a 2024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2982913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18%</a:t>
            </a:r>
            <a:pPr indent="0" marL="0">
              <a:buNone/>
            </a:pPr>
            <a:r>
              <a:rPr lang="en-US" sz="1760" b="1" dirty="0">
                <a:solidFill>
                  <a:srgbClr val="788C3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  ▴ 2.4 pts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3773699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Crecimiento de ingresos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4093739"/>
            <a:ext cx="340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Frente al año anterior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94200" y="2982913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1,240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394200" y="3773699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Nuevos estudiantes matriculados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02600" y="2982913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AEAEA"/>
          </a:solidFill>
          <a:ln/>
        </p:spPr>
      </p:sp>
      <p:sp>
        <p:nvSpPr>
          <p:cNvPr id="9" name="Text 7"/>
          <p:cNvSpPr/>
          <p:nvPr/>
        </p:nvSpPr>
        <p:spPr>
          <a:xfrm>
            <a:off x="8102600" y="2982913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30C0C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Requiere atención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029448" y="3293809"/>
            <a:ext cx="36576" cy="745067"/>
          </a:xfrm>
          <a:prstGeom prst="rect">
            <a:avLst/>
          </a:prstGeom>
          <a:solidFill>
            <a:srgbClr val="CE2929"/>
          </a:solidFill>
          <a:ln/>
        </p:spPr>
      </p:sp>
      <p:sp>
        <p:nvSpPr>
          <p:cNvPr id="11" name="Text 9"/>
          <p:cNvSpPr/>
          <p:nvPr/>
        </p:nvSpPr>
        <p:spPr>
          <a:xfrm>
            <a:off x="8102600" y="3293809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-4%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102600" y="4084595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Deserción en primer semestre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4989512"/>
            <a:ext cx="10820400" cy="800100"/>
          </a:xfrm>
          <a:prstGeom prst="rect">
            <a:avLst/>
          </a:prstGeom>
          <a:solidFill>
            <a:srgbClr val="FAF3DC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989512"/>
            <a:ext cx="54864" cy="800100"/>
          </a:xfrm>
          <a:prstGeom prst="rect">
            <a:avLst/>
          </a:prstGeom>
          <a:solidFill>
            <a:srgbClr val="9173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5117528"/>
            <a:ext cx="1022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1734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5373560"/>
            <a:ext cx="1022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Las cifras de matrícula excluyen programas de posgrado a distancia.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67400"/>
            <a:ext cx="10820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Fuente: Vicerrectoría Financiera · 2025</a:t>
            </a:r>
            <a:endParaRPr lang="en-US" sz="1100" dirty="0"/>
          </a:p>
        </p:txBody>
      </p:sp>
      <p:pic>
        <p:nvPicPr>
          <p:cNvPr id="1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0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57300"/>
            <a:ext cx="10820400" cy="1676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Ingeniería y Medicina lideraron el crecimiento en proyectos de investigación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685800" y="3390900"/>
            <a:ext cx="52578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3390900"/>
            <a:ext cx="54864" cy="2438400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57378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Facultad de Ingeniería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34840" y="3573780"/>
            <a:ext cx="1280160" cy="237744"/>
          </a:xfrm>
          <a:prstGeom prst="roundRect">
            <a:avLst>
              <a:gd name="adj" fmla="val 50000"/>
            </a:avLst>
          </a:prstGeom>
          <a:solidFill>
            <a:srgbClr val="C2C3C8"/>
          </a:solidFill>
          <a:ln/>
        </p:spPr>
      </p:sp>
      <p:sp>
        <p:nvSpPr>
          <p:cNvPr id="7" name="Text 5"/>
          <p:cNvSpPr/>
          <p:nvPr/>
        </p:nvSpPr>
        <p:spPr>
          <a:xfrm>
            <a:off x="4434840" y="357378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Líder en crecimiento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Proyectos activos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147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3147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indexadas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14700" y="4076700"/>
            <a:ext cx="914" cy="548640"/>
          </a:xfrm>
          <a:prstGeom prst="line">
            <a:avLst/>
          </a:prstGeom>
          <a:noFill/>
          <a:ln w="9525">
            <a:solidFill>
              <a:srgbClr val="C2C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853940"/>
            <a:ext cx="48006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32 proyectos activos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12 publicaciones indexadas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3390900"/>
            <a:ext cx="52578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48400" y="3390900"/>
            <a:ext cx="54864" cy="2438400"/>
          </a:xfrm>
          <a:prstGeom prst="rect">
            <a:avLst/>
          </a:prstGeom>
          <a:solidFill>
            <a:srgbClr val="CE2929"/>
          </a:solidFill>
          <a:ln/>
        </p:spPr>
      </p:sp>
      <p:sp>
        <p:nvSpPr>
          <p:cNvPr id="16" name="Text 14"/>
          <p:cNvSpPr/>
          <p:nvPr/>
        </p:nvSpPr>
        <p:spPr>
          <a:xfrm>
            <a:off x="6477000" y="357378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Facultad de Medicina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997440" y="3573780"/>
            <a:ext cx="1280160" cy="237744"/>
          </a:xfrm>
          <a:prstGeom prst="roundRect">
            <a:avLst>
              <a:gd name="adj" fmla="val 50000"/>
            </a:avLst>
          </a:prstGeom>
          <a:solidFill>
            <a:srgbClr val="FAEAEA"/>
          </a:solidFill>
          <a:ln/>
        </p:spPr>
      </p:sp>
      <p:sp>
        <p:nvSpPr>
          <p:cNvPr id="18" name="Text 16"/>
          <p:cNvSpPr/>
          <p:nvPr/>
        </p:nvSpPr>
        <p:spPr>
          <a:xfrm>
            <a:off x="9997440" y="357378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30C0C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bajo la meta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770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770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Proyectos activos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773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19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8773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indexadas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877300" y="4076700"/>
            <a:ext cx="914" cy="548640"/>
          </a:xfrm>
          <a:prstGeom prst="line">
            <a:avLst/>
          </a:prstGeom>
          <a:noFill/>
          <a:ln w="9525">
            <a:solidFill>
              <a:srgbClr val="C2C3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7000" y="4853940"/>
            <a:ext cx="48006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28 proyectos activos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19 publicaciones indexadas</a:t>
            </a:r>
            <a:endParaRPr lang="en-US" sz="1200" dirty="0"/>
          </a:p>
        </p:txBody>
      </p:sp>
      <p:pic>
        <p:nvPicPr>
          <p:cNvPr id="25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7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609725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El proceso de acreditación avanzó en cuatro etapas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2038350" y="3553206"/>
            <a:ext cx="811530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4" name="Shape 2"/>
          <p:cNvSpPr/>
          <p:nvPr/>
        </p:nvSpPr>
        <p:spPr>
          <a:xfrm>
            <a:off x="1809750" y="33337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1809750" y="33337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9433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Recolección de evidencia por programa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14850" y="33337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8" name="Text 6"/>
          <p:cNvSpPr/>
          <p:nvPr/>
        </p:nvSpPr>
        <p:spPr>
          <a:xfrm>
            <a:off x="4514850" y="33337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90900" y="39433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219950" y="33337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11" name="Text 9"/>
          <p:cNvSpPr/>
          <p:nvPr/>
        </p:nvSpPr>
        <p:spPr>
          <a:xfrm>
            <a:off x="7219950" y="33337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6000" y="39433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25050" y="33337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14" name="Text 12"/>
          <p:cNvSpPr/>
          <p:nvPr/>
        </p:nvSpPr>
        <p:spPr>
          <a:xfrm>
            <a:off x="9925050" y="33337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01100" y="39433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676775"/>
            <a:ext cx="10820400" cy="800100"/>
          </a:xfrm>
          <a:prstGeom prst="rect">
            <a:avLst/>
          </a:prstGeom>
          <a:solidFill>
            <a:srgbClr val="DCE5F3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916805"/>
            <a:ext cx="1027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visita de verificación concentra el 40% del esfuerzo total del proceso.</a:t>
            </a:r>
            <a:endParaRPr lang="en-US" sz="1400" dirty="0"/>
          </a:p>
        </p:txBody>
      </p:sp>
      <p:pic>
        <p:nvPicPr>
          <p:cNvPr id="1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0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71713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Indicadores por facultad</a:t>
            </a:r>
            <a:endParaRPr lang="en-US" sz="3825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214688"/>
          <a:ext cx="10820400" cy="914400"/>
        </p:xfrm>
        <a:graphic>
          <a:graphicData uri="http://schemas.openxmlformats.org/drawingml/2006/table">
            <a:tbl>
              <a:tblPr/>
              <a:tblGrid>
                <a:gridCol w="2705100"/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Facultad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Estudiantes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Proyectos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Publicaciones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Ingeniería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1,850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32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12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Medicina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1,420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28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19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Educación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980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14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7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6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9040" y="0"/>
            <a:ext cx="4632960" cy="6858000"/>
          </a:xfrm>
          <a:prstGeom prst="rect">
            <a:avLst/>
          </a:prstGeom>
          <a:solidFill>
            <a:srgbClr val="003A86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52725"/>
            <a:ext cx="82296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“La investigación aplicada es el puente entre el conocimiento y el bienestar de la sociedad.”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4067175"/>
            <a:ext cx="7315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 Rectoría, Universidad de La Sabana</a:t>
            </a:r>
            <a:endParaRPr lang="en-US" sz="1500" dirty="0"/>
          </a:p>
        </p:txBody>
      </p:sp>
      <p:pic>
        <p:nvPicPr>
          <p:cNvPr id="5" name="Image 0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7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2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9040" y="0"/>
            <a:ext cx="4632960" cy="6858000"/>
          </a:xfrm>
          <a:prstGeom prst="rect">
            <a:avLst/>
          </a:prstGeom>
          <a:solidFill>
            <a:srgbClr val="003A86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524125"/>
            <a:ext cx="8229600" cy="1704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Seguimos construyendo una universidad que transforma su entorno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685800" y="4610100"/>
            <a:ext cx="7315200" cy="29527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contacto@ejemplo.edu.co (dato ficticio de ejemplo)</a:t>
            </a:r>
            <a:endParaRPr lang="en-US" sz="1500" dirty="0"/>
          </a:p>
        </p:txBody>
      </p:sp>
      <p:pic>
        <p:nvPicPr>
          <p:cNvPr id="5" name="Image 0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60885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7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Resultados institucionales 2025</dc:title>
  <dc:subject>PptxGenJS Presentation</dc:subject>
  <dc:creator>PptxGenJS</dc:creator>
  <cp:lastModifiedBy>PptxGenJS</cp:lastModifiedBy>
  <cp:revision>1</cp:revision>
  <dcterms:created xsi:type="dcterms:W3CDTF">2026-07-24T17:40:57Z</dcterms:created>
  <dcterms:modified xsi:type="dcterms:W3CDTF">2026-07-24T17:40:57Z</dcterms:modified>
</cp:coreProperties>
</file>