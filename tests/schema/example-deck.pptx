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sergiogonro\Documents\dde\unisabana-presentation-system\core\brand\assets\campus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2157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2214563"/>
            <a:ext cx="929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ANUAL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2595563"/>
            <a:ext cx="9296400" cy="21050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consolidó su crecimiento en investigación durante 2025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85800" y="4929188"/>
            <a:ext cx="9296400" cy="35242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de resultados ante el Consejo Directivo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85800" y="6019800"/>
            <a:ext cx="9296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Rectoría · noviembre de 2025</a:t>
            </a:r>
            <a:endParaRPr lang="en-US" sz="1200" dirty="0"/>
          </a:p>
        </p:txBody>
      </p:sp>
      <p:pic>
        <p:nvPicPr>
          <p:cNvPr id="8" name="Image 1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3400"/>
            <a:ext cx="1765266" cy="7524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2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509713"/>
            <a:ext cx="5486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5288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31384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3748087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3576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4967288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  </a:t>
            </a:r>
            <a:pPr indent="0" marL="0">
              <a:buNone/>
            </a:pPr>
            <a:r>
              <a:rPr lang="en-US" sz="15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800" dirty="0"/>
          </a:p>
        </p:txBody>
      </p:sp>
      <p:pic>
        <p:nvPicPr>
          <p:cNvPr id="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1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662113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Agenda (variante grid)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2681288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00680" y="26264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86968" y="2845880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4200" y="2681288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9080" y="26264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95368" y="2845880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financieros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2600" y="2681288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17480" y="26264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03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8303768" y="2845880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Resultados de investigación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4167187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0680" y="41123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04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86968" y="4331779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Comparación entre facultades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94200" y="4167187"/>
            <a:ext cx="34036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9080" y="4112324"/>
            <a:ext cx="1188720" cy="9429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5F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4595368" y="4331779"/>
            <a:ext cx="3001264" cy="9281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Cierre y próximos pasos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976438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85800" y="3214688"/>
            <a:ext cx="8229600" cy="1619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555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Contexto institucional</a:t>
            </a:r>
            <a:endParaRPr lang="en-US" sz="5550" dirty="0"/>
          </a:p>
        </p:txBody>
      </p:sp>
      <p:sp>
        <p:nvSpPr>
          <p:cNvPr id="5" name="Text 3"/>
          <p:cNvSpPr/>
          <p:nvPr/>
        </p:nvSpPr>
        <p:spPr>
          <a:xfrm>
            <a:off x="685800" y="5024438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Panorama general 2025</a:t>
            </a:r>
            <a:endParaRPr lang="en-US" sz="1500" dirty="0"/>
          </a:p>
        </p:txBody>
      </p:sp>
      <p:pic>
        <p:nvPicPr>
          <p:cNvPr id="6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296018" cy="552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8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909762"/>
            <a:ext cx="9144000" cy="12287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Universidad fortaleció su posición académica regional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85800" y="3367088"/>
            <a:ext cx="8229600" cy="7048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crecimiento se sostuvo en investigación, internacionalización y bienestar estudiantil.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4300538"/>
            <a:ext cx="10820400" cy="800100"/>
          </a:xfrm>
          <a:prstGeom prst="rect">
            <a:avLst/>
          </a:prstGeom>
          <a:solidFill>
            <a:srgbClr val="0D215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4428554"/>
            <a:ext cx="1027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PUNTO DE PARTIDA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4684586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Arrancamos el periodo con una brecha de 12 puntos frente a la meta institucional.</a:t>
            </a:r>
            <a:endParaRPr lang="en-US" sz="1400" dirty="0"/>
          </a:p>
        </p:txBody>
      </p:sp>
      <p:pic>
        <p:nvPicPr>
          <p:cNvPr id="7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9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Los ingresos operacionales crecieron 18% frente a 2024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943225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18%</a:t>
            </a:r>
            <a:pPr indent="0" marL="0">
              <a:buNone/>
            </a:pPr>
            <a:r>
              <a:rPr lang="en-US" sz="1760" b="1" dirty="0">
                <a:solidFill>
                  <a:srgbClr val="788C31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  ▴ 2.4 pts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734012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Crecimiento de ingresos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4054052"/>
            <a:ext cx="340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Frente al año anterior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94200" y="2943225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1,240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94200" y="3734012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Nuevos estudiantes matriculados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02600" y="2943225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9" name="Text 7"/>
          <p:cNvSpPr/>
          <p:nvPr/>
        </p:nvSpPr>
        <p:spPr>
          <a:xfrm>
            <a:off x="8102600" y="2943225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Requiere atención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029448" y="3254121"/>
            <a:ext cx="36576" cy="745067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1" name="Text 9"/>
          <p:cNvSpPr/>
          <p:nvPr/>
        </p:nvSpPr>
        <p:spPr>
          <a:xfrm>
            <a:off x="8102600" y="3254121"/>
            <a:ext cx="3403600" cy="74506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-4%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02600" y="4044908"/>
            <a:ext cx="340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Deserción en primer semestre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4949825"/>
            <a:ext cx="10820400" cy="800100"/>
          </a:xfrm>
          <a:prstGeom prst="rect">
            <a:avLst/>
          </a:prstGeom>
          <a:solidFill>
            <a:srgbClr val="FAF3DC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949825"/>
            <a:ext cx="54864" cy="800100"/>
          </a:xfrm>
          <a:prstGeom prst="rect">
            <a:avLst/>
          </a:prstGeom>
          <a:solidFill>
            <a:srgbClr val="9173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5077841"/>
            <a:ext cx="1022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173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5333873"/>
            <a:ext cx="1022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Las cifras de matrícula excluyen programas de posgrado a distancia.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978525"/>
            <a:ext cx="7574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Avance frente a la meta anual de ingresos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5978525"/>
            <a:ext cx="1082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72%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6252845"/>
            <a:ext cx="10820400" cy="128016"/>
          </a:xfrm>
          <a:prstGeom prst="roundRect">
            <a:avLst>
              <a:gd name="adj" fmla="val 50000"/>
            </a:avLst>
          </a:prstGeom>
          <a:solidFill>
            <a:srgbClr val="DCE5F3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6252845"/>
            <a:ext cx="7790688" cy="128016"/>
          </a:xfrm>
          <a:prstGeom prst="roundRect">
            <a:avLst>
              <a:gd name="adj" fmla="val 50000"/>
            </a:avLst>
          </a:prstGeom>
          <a:solidFill>
            <a:srgbClr val="00205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867400"/>
            <a:ext cx="1082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Fuente: Vicerrectoría Financiera · 2025</a:t>
            </a:r>
            <a:endParaRPr lang="en-US" sz="1100" dirty="0"/>
          </a:p>
        </p:txBody>
      </p:sp>
      <p:pic>
        <p:nvPicPr>
          <p:cNvPr id="22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4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676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Ingeniería y Medicina lideraron el crecimiento en proyectos de investigación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6858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3390900"/>
            <a:ext cx="54864" cy="24384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737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Ingeniería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34840" y="35737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C2C3C8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35737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Líder en crecimiento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147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147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14700" y="407670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853940"/>
            <a:ext cx="48006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32 proyectos activos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12 publicaciones indexadas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3390900"/>
            <a:ext cx="5257800" cy="2438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48400" y="3390900"/>
            <a:ext cx="54864" cy="2438400"/>
          </a:xfrm>
          <a:prstGeom prst="rect">
            <a:avLst/>
          </a:prstGeom>
          <a:solidFill>
            <a:srgbClr val="CE2929"/>
          </a:solidFill>
          <a:ln/>
        </p:spPr>
      </p:sp>
      <p:sp>
        <p:nvSpPr>
          <p:cNvPr id="16" name="Text 14"/>
          <p:cNvSpPr/>
          <p:nvPr/>
        </p:nvSpPr>
        <p:spPr>
          <a:xfrm>
            <a:off x="6477000" y="357378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Facultad de Medicina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997440" y="35737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FAEAEA"/>
          </a:solidFill>
          <a:ln/>
        </p:spPr>
      </p:sp>
      <p:sp>
        <p:nvSpPr>
          <p:cNvPr id="18" name="Text 16"/>
          <p:cNvSpPr/>
          <p:nvPr/>
        </p:nvSpPr>
        <p:spPr>
          <a:xfrm>
            <a:off x="9997440" y="357378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30C0C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bajo la meta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770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770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Proyectos activos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77300" y="4076700"/>
            <a:ext cx="226314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877300" y="4528820"/>
            <a:ext cx="22631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Publicaciones indexadas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877300" y="4076700"/>
            <a:ext cx="914" cy="548640"/>
          </a:xfrm>
          <a:prstGeom prst="line">
            <a:avLst/>
          </a:prstGeom>
          <a:noFill/>
          <a:ln w="9525">
            <a:solidFill>
              <a:srgbClr val="C2C3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7000" y="4853940"/>
            <a:ext cx="48006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28 proyectos activos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C3C3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19 publicaciones indexadas</a:t>
            </a:r>
            <a:endParaRPr lang="en-US" sz="1200" dirty="0"/>
          </a:p>
        </p:txBody>
      </p:sp>
      <p:pic>
        <p:nvPicPr>
          <p:cNvPr id="25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457325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El proceso de acreditación avanzó en cuatro etapas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3400806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8097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18097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148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8" name="Text 6"/>
          <p:cNvSpPr/>
          <p:nvPr/>
        </p:nvSpPr>
        <p:spPr>
          <a:xfrm>
            <a:off x="45148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909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199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1" name="Text 9"/>
          <p:cNvSpPr/>
          <p:nvPr/>
        </p:nvSpPr>
        <p:spPr>
          <a:xfrm>
            <a:off x="72199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25050" y="3181350"/>
            <a:ext cx="457200" cy="457200"/>
          </a:xfrm>
          <a:prstGeom prst="ellipse">
            <a:avLst/>
          </a:prstGeom>
          <a:solidFill>
            <a:srgbClr val="00205B"/>
          </a:solidFill>
          <a:ln/>
        </p:spPr>
      </p:sp>
      <p:sp>
        <p:nvSpPr>
          <p:cNvPr id="14" name="Text 12"/>
          <p:cNvSpPr/>
          <p:nvPr/>
        </p:nvSpPr>
        <p:spPr>
          <a:xfrm>
            <a:off x="9925050" y="318135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1100" y="3790950"/>
            <a:ext cx="2590800" cy="428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524375"/>
            <a:ext cx="10820400" cy="800100"/>
          </a:xfrm>
          <a:prstGeom prst="rect">
            <a:avLst/>
          </a:prstGeom>
          <a:solidFill>
            <a:srgbClr val="DCE5F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64405"/>
            <a:ext cx="1027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visita de verificación concentra el 40% del esfuerzo total del proceso.</a:t>
            </a:r>
            <a:endParaRPr lang="en-US" sz="1400" dirty="0"/>
          </a:p>
        </p:txBody>
      </p:sp>
      <p:pic>
        <p:nvPicPr>
          <p:cNvPr id="18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20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11144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Fases del proceso de acreditación (variante alternada)</a:t>
            </a:r>
            <a:endParaRPr lang="en-US" sz="3825" dirty="0"/>
          </a:p>
        </p:txBody>
      </p:sp>
      <p:sp>
        <p:nvSpPr>
          <p:cNvPr id="3" name="Shape 1"/>
          <p:cNvSpPr/>
          <p:nvPr/>
        </p:nvSpPr>
        <p:spPr>
          <a:xfrm>
            <a:off x="2038350" y="4477131"/>
            <a:ext cx="811530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4" name="Shape 2"/>
          <p:cNvSpPr/>
          <p:nvPr/>
        </p:nvSpPr>
        <p:spPr>
          <a:xfrm>
            <a:off x="19926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90512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450" y="303847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sp>
        <p:nvSpPr>
          <p:cNvPr id="7" name="Text 5"/>
          <p:cNvSpPr/>
          <p:nvPr/>
        </p:nvSpPr>
        <p:spPr>
          <a:xfrm>
            <a:off x="933450" y="347433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33450" y="367550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33450" y="396811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Recolección de evidencia por programa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977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5200" y="475297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38550" y="488632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8550" y="532218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38550" y="552335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38550" y="581596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pares académicos externos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40530" y="4175379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91734A"/>
          </a:solidFill>
          <a:ln/>
        </p:spPr>
      </p:sp>
      <p:sp>
        <p:nvSpPr>
          <p:cNvPr id="17" name="Text 15"/>
          <p:cNvSpPr/>
          <p:nvPr/>
        </p:nvSpPr>
        <p:spPr>
          <a:xfrm>
            <a:off x="4240530" y="4175379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Estamos aquí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79442" y="4422267"/>
            <a:ext cx="128016" cy="128016"/>
          </a:xfrm>
          <a:prstGeom prst="ellipse">
            <a:avLst/>
          </a:prstGeom>
          <a:solidFill>
            <a:srgbClr val="917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028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0300" y="290512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43650" y="303847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650" y="347433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43650" y="367550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43650" y="396811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Consolidación de hallazgos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107930" y="4440555"/>
            <a:ext cx="91440" cy="91440"/>
          </a:xfrm>
          <a:prstGeom prst="ellipse">
            <a:avLst/>
          </a:prstGeom>
          <a:solidFill>
            <a:srgbClr val="0020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15400" y="4752975"/>
            <a:ext cx="2476500" cy="1314450"/>
          </a:xfrm>
          <a:prstGeom prst="rect">
            <a:avLst/>
          </a:prstGeom>
          <a:solidFill>
            <a:srgbClr val="FFFFFF"/>
          </a:solidFill>
          <a:ln w="9525">
            <a:solidFill>
              <a:srgbClr val="C2C3C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8750" y="4886325"/>
            <a:ext cx="381000" cy="381000"/>
          </a:xfrm>
          <a:prstGeom prst="roundRect">
            <a:avLst>
              <a:gd name="adj" fmla="val 14400"/>
            </a:avLst>
          </a:prstGeom>
          <a:solidFill>
            <a:srgbClr val="00205B"/>
          </a:solidFill>
          <a:ln/>
        </p:spPr>
      </p:sp>
      <p:sp>
        <p:nvSpPr>
          <p:cNvPr id="28" name="Text 26"/>
          <p:cNvSpPr/>
          <p:nvPr/>
        </p:nvSpPr>
        <p:spPr>
          <a:xfrm>
            <a:off x="9048750" y="5322189"/>
            <a:ext cx="2209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D2157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HITO 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048750" y="5523357"/>
            <a:ext cx="2209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48750" y="5815965"/>
            <a:ext cx="22098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Confirmación institucional</a:t>
            </a:r>
            <a:endParaRPr lang="en-US" sz="1100" dirty="0"/>
          </a:p>
        </p:txBody>
      </p:sp>
      <p:pic>
        <p:nvPicPr>
          <p:cNvPr id="31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3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57300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Cronograma del proceso de acreditación</a:t>
            </a:r>
            <a:endParaRPr lang="en-US" sz="3825" dirty="0"/>
          </a:p>
        </p:txBody>
      </p:sp>
      <p:sp>
        <p:nvSpPr>
          <p:cNvPr id="3" name="Text 1"/>
          <p:cNvSpPr/>
          <p:nvPr/>
        </p:nvSpPr>
        <p:spPr>
          <a:xfrm>
            <a:off x="685800" y="258127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Autoevaluación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905125" y="2686050"/>
            <a:ext cx="2478454" cy="2286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301942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Revisión por pares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83579" y="3124200"/>
            <a:ext cx="2562469" cy="228600"/>
          </a:xfrm>
          <a:prstGeom prst="rect">
            <a:avLst/>
          </a:prstGeom>
          <a:solidFill>
            <a:srgbClr val="00205B">
              <a:alpha val="6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45757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Informe final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946048" y="3562350"/>
            <a:ext cx="1302238" cy="228600"/>
          </a:xfrm>
          <a:prstGeom prst="rect">
            <a:avLst/>
          </a:prstGeom>
          <a:solidFill>
            <a:srgbClr val="00205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895725"/>
            <a:ext cx="1657350" cy="43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Visita de verificación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36394" y="4000500"/>
            <a:ext cx="1260231" cy="228600"/>
          </a:xfrm>
          <a:prstGeom prst="rect">
            <a:avLst/>
          </a:prstGeom>
          <a:solidFill>
            <a:srgbClr val="00205B">
              <a:alpha val="6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495550" y="4333875"/>
            <a:ext cx="9010650" cy="18288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2" name="Shape 10"/>
          <p:cNvSpPr/>
          <p:nvPr/>
        </p:nvSpPr>
        <p:spPr>
          <a:xfrm>
            <a:off x="2486406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3" name="Text 11"/>
          <p:cNvSpPr/>
          <p:nvPr/>
        </p:nvSpPr>
        <p:spPr>
          <a:xfrm>
            <a:off x="2114550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dic 2025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39069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5" name="Text 13"/>
          <p:cNvSpPr/>
          <p:nvPr/>
        </p:nvSpPr>
        <p:spPr>
          <a:xfrm>
            <a:off x="4367212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feb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991731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7" name="Text 15"/>
          <p:cNvSpPr/>
          <p:nvPr/>
        </p:nvSpPr>
        <p:spPr>
          <a:xfrm>
            <a:off x="6619875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abr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244394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19" name="Text 17"/>
          <p:cNvSpPr/>
          <p:nvPr/>
        </p:nvSpPr>
        <p:spPr>
          <a:xfrm>
            <a:off x="8872538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jun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497056" y="4333875"/>
            <a:ext cx="18288" cy="76200"/>
          </a:xfrm>
          <a:prstGeom prst="rect">
            <a:avLst/>
          </a:prstGeom>
          <a:solidFill>
            <a:srgbClr val="C2C3C8"/>
          </a:solidFill>
          <a:ln/>
        </p:spPr>
      </p:sp>
      <p:sp>
        <p:nvSpPr>
          <p:cNvPr id="21" name="Text 19"/>
          <p:cNvSpPr/>
          <p:nvPr/>
        </p:nvSpPr>
        <p:spPr>
          <a:xfrm>
            <a:off x="11125200" y="4448175"/>
            <a:ext cx="76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jul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85817" y="2581275"/>
            <a:ext cx="914" cy="1752600"/>
          </a:xfrm>
          <a:prstGeom prst="line">
            <a:avLst/>
          </a:prstGeom>
          <a:noFill/>
          <a:ln w="15875">
            <a:solidFill>
              <a:srgbClr val="91734A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6621809" y="2517267"/>
            <a:ext cx="128016" cy="128016"/>
          </a:xfrm>
          <a:prstGeom prst="ellipse">
            <a:avLst/>
          </a:prstGeom>
          <a:solidFill>
            <a:srgbClr val="917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5757" y="2200275"/>
            <a:ext cx="960120" cy="182880"/>
          </a:xfrm>
          <a:prstGeom prst="roundRect">
            <a:avLst>
              <a:gd name="adj" fmla="val 50000"/>
            </a:avLst>
          </a:prstGeom>
          <a:solidFill>
            <a:srgbClr val="91734A"/>
          </a:solidFill>
          <a:ln/>
        </p:spPr>
      </p:sp>
      <p:sp>
        <p:nvSpPr>
          <p:cNvPr id="25" name="Text 23"/>
          <p:cNvSpPr/>
          <p:nvPr/>
        </p:nvSpPr>
        <p:spPr>
          <a:xfrm>
            <a:off x="6205757" y="2200275"/>
            <a:ext cx="960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Estamos aquí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027436" y="4638675"/>
            <a:ext cx="91440" cy="91440"/>
          </a:xfrm>
          <a:prstGeom prst="ellipse">
            <a:avLst/>
          </a:prstGeom>
          <a:solidFill>
            <a:srgbClr val="0D2157"/>
          </a:solidFill>
          <a:ln/>
        </p:spPr>
      </p:sp>
      <p:sp>
        <p:nvSpPr>
          <p:cNvPr id="27" name="Text 25"/>
          <p:cNvSpPr/>
          <p:nvPr/>
        </p:nvSpPr>
        <p:spPr>
          <a:xfrm>
            <a:off x="2501656" y="4772025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Kickoff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ene 2026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28205" y="4638675"/>
            <a:ext cx="91440" cy="91440"/>
          </a:xfrm>
          <a:prstGeom prst="ellipse">
            <a:avLst/>
          </a:prstGeom>
          <a:solidFill>
            <a:srgbClr val="0D2157"/>
          </a:solidFill>
          <a:ln/>
        </p:spPr>
      </p:sp>
      <p:sp>
        <p:nvSpPr>
          <p:cNvPr id="29" name="Text 27"/>
          <p:cNvSpPr/>
          <p:nvPr/>
        </p:nvSpPr>
        <p:spPr>
          <a:xfrm>
            <a:off x="6702425" y="4772025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Entrega parcial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abr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5362575"/>
            <a:ext cx="10820400" cy="800100"/>
          </a:xfrm>
          <a:prstGeom prst="rect">
            <a:avLst/>
          </a:prstGeom>
          <a:solidFill>
            <a:srgbClr val="FAF3DC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5362575"/>
            <a:ext cx="54864" cy="800100"/>
          </a:xfrm>
          <a:prstGeom prst="rect">
            <a:avLst/>
          </a:prstGeom>
          <a:solidFill>
            <a:srgbClr val="917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5490591"/>
            <a:ext cx="1022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1734A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NOTA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05840" y="5746623"/>
            <a:ext cx="1022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La visita de verificación depende de la disponibilidad del par externo.</a:t>
            </a:r>
            <a:endParaRPr lang="en-US" sz="1400" dirty="0"/>
          </a:p>
        </p:txBody>
      </p:sp>
      <p:pic>
        <p:nvPicPr>
          <p:cNvPr id="3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3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71713"/>
            <a:ext cx="10820400" cy="561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825" b="1" dirty="0">
                <a:solidFill>
                  <a:srgbClr val="00205B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Indicadores por facultad</a:t>
            </a:r>
            <a:endParaRPr lang="en-US" sz="3825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214688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Facultad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Estudiantes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Proyectos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Publicaciones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5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Ingeniería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1,850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32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12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Medicina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1,420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28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19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Educación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980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14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C3C3B"/>
                          </a:solidFill>
                          <a:latin typeface="Libre Franklin" pitchFamily="34" charset="0"/>
                          <a:ea typeface="Libre Franklin" pitchFamily="34" charset="-122"/>
                          <a:cs typeface="Libre Franklin" pitchFamily="34" charset="-120"/>
                        </a:rPr>
                        <a:t>7</a:t>
                      </a:r>
                      <a:endParaRPr lang="en-US" sz="1200" dirty="0">
                        <a:latin typeface="Libre Franklin" charset="0"/>
                        <a:ea typeface="Libre Franklin" charset="0"/>
                        <a:cs typeface="Libre Frankli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C:\Users\sergiogonro\Documents\dde\unisabana-presentation-system\core\brand\assets\logo-horizontal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17175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6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52725"/>
            <a:ext cx="8229600" cy="10287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“La investigación aplicada es el puente entre el conocimiento y el bienestar de la sociedad.”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4067175"/>
            <a:ext cx="7315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— Rectoría, Universidad de La Sabana</a:t>
            </a:r>
            <a:endParaRPr lang="en-US" sz="1500" dirty="0"/>
          </a:p>
        </p:txBody>
      </p:sp>
      <p:pic>
        <p:nvPicPr>
          <p:cNvPr id="5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804425" cy="342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21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9040" y="0"/>
            <a:ext cx="4632960" cy="6858000"/>
          </a:xfrm>
          <a:prstGeom prst="rect">
            <a:avLst/>
          </a:prstGeom>
          <a:solidFill>
            <a:srgbClr val="003A86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524125"/>
            <a:ext cx="8229600" cy="17049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Seguimos construyendo una universidad que transforma su entorno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685800" y="4610100"/>
            <a:ext cx="7315200" cy="29527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contacto@ejemplo.edu.co (dato ficticio de ejemplo)</a:t>
            </a:r>
            <a:endParaRPr lang="en-US" sz="1500" dirty="0"/>
          </a:p>
        </p:txBody>
      </p:sp>
      <p:pic>
        <p:nvPicPr>
          <p:cNvPr id="5" name="Image 0" descr="C:\Users\sergiogonro\Documents\dde\unisabana-presentation-system\core\brand\assets\logo-horizontal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33400"/>
            <a:ext cx="160885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96450" y="6400800"/>
            <a:ext cx="19532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8B1D3"/>
                </a:solidFill>
                <a:latin typeface="Libre Franklin" pitchFamily="34" charset="0"/>
                <a:ea typeface="Libre Franklin" pitchFamily="34" charset="-122"/>
                <a:cs typeface="Libre Franklin" pitchFamily="34" charset="-120"/>
              </a:rPr>
              <a:t>Diseñado con Claude Design</a:t>
            </a:r>
            <a:endParaRPr lang="en-US" sz="1050" dirty="0"/>
          </a:p>
        </p:txBody>
      </p:sp>
      <p:pic>
        <p:nvPicPr>
          <p:cNvPr id="7" name="Image 1" descr="C:\Users\sergiogonro\Documents\dde\unisabana-presentation-system\core\brand\assets\claude-logo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25905" y="6434138"/>
            <a:ext cx="161295" cy="1619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Resultados institucionales 2025</dc:title>
  <dc:subject>PptxGenJS Presentation</dc:subject>
  <dc:creator>PptxGenJS</dc:creator>
  <cp:lastModifiedBy>PptxGenJS</cp:lastModifiedBy>
  <cp:revision>1</cp:revision>
  <dcterms:created xsi:type="dcterms:W3CDTF">2026-07-24T19:51:10Z</dcterms:created>
  <dcterms:modified xsi:type="dcterms:W3CDTF">2026-07-24T19:51:10Z</dcterms:modified>
</cp:coreProperties>
</file>